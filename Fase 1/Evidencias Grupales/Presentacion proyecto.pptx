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Helvetica Now Bold" charset="1" panose="020B0804030202020204"/>
      <p:regular r:id="rId16"/>
    </p:embeddedFont>
    <p:embeddedFont>
      <p:font typeface="Helvetica Now" charset="1" panose="020B0504030202020204"/>
      <p:regular r:id="rId17"/>
    </p:embeddedFont>
    <p:embeddedFont>
      <p:font typeface="Canva Sans Bold" charset="1" panose="020B0803030501040103"/>
      <p:regular r:id="rId18"/>
    </p:embeddedFont>
    <p:embeddedFont>
      <p:font typeface="Canva Sans" charset="1" panose="020B05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 Id="rId5"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png" Type="http://schemas.openxmlformats.org/officeDocument/2006/relationships/image"/><Relationship Id="rId4" Target="../media/image2.png" Type="http://schemas.openxmlformats.org/officeDocument/2006/relationships/image"/><Relationship Id="rId5"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25082" y="8701610"/>
            <a:ext cx="4057650" cy="556690"/>
            <a:chOff x="0" y="0"/>
            <a:chExt cx="1068681" cy="146618"/>
          </a:xfrm>
        </p:grpSpPr>
        <p:sp>
          <p:nvSpPr>
            <p:cNvPr name="Freeform 3" id="3"/>
            <p:cNvSpPr/>
            <p:nvPr/>
          </p:nvSpPr>
          <p:spPr>
            <a:xfrm flipH="false" flipV="false" rot="0">
              <a:off x="0" y="0"/>
              <a:ext cx="1068681" cy="146618"/>
            </a:xfrm>
            <a:custGeom>
              <a:avLst/>
              <a:gdLst/>
              <a:ahLst/>
              <a:cxnLst/>
              <a:rect r="r" b="b" t="t" l="l"/>
              <a:pathLst>
                <a:path h="146618" w="1068681">
                  <a:moveTo>
                    <a:pt x="0" y="0"/>
                  </a:moveTo>
                  <a:lnTo>
                    <a:pt x="1068681" y="0"/>
                  </a:lnTo>
                  <a:lnTo>
                    <a:pt x="1068681" y="146618"/>
                  </a:lnTo>
                  <a:lnTo>
                    <a:pt x="0" y="146618"/>
                  </a:lnTo>
                  <a:close/>
                </a:path>
              </a:pathLst>
            </a:custGeom>
            <a:solidFill>
              <a:srgbClr val="3E77F4"/>
            </a:solidFill>
          </p:spPr>
        </p:sp>
        <p:sp>
          <p:nvSpPr>
            <p:cNvPr name="TextBox 4" id="4"/>
            <p:cNvSpPr txBox="true"/>
            <p:nvPr/>
          </p:nvSpPr>
          <p:spPr>
            <a:xfrm>
              <a:off x="0" y="28575"/>
              <a:ext cx="1068681" cy="118043"/>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13262033" y="550394"/>
            <a:ext cx="3819033" cy="956612"/>
          </a:xfrm>
          <a:custGeom>
            <a:avLst/>
            <a:gdLst/>
            <a:ahLst/>
            <a:cxnLst/>
            <a:rect r="r" b="b" t="t" l="l"/>
            <a:pathLst>
              <a:path h="956612" w="3819033">
                <a:moveTo>
                  <a:pt x="0" y="0"/>
                </a:moveTo>
                <a:lnTo>
                  <a:pt x="3819033" y="0"/>
                </a:lnTo>
                <a:lnTo>
                  <a:pt x="3819033" y="956612"/>
                </a:lnTo>
                <a:lnTo>
                  <a:pt x="0" y="956612"/>
                </a:lnTo>
                <a:lnTo>
                  <a:pt x="0" y="0"/>
                </a:lnTo>
                <a:close/>
              </a:path>
            </a:pathLst>
          </a:custGeom>
          <a:blipFill>
            <a:blip r:embed="rId2"/>
            <a:stretch>
              <a:fillRect l="0" t="0" r="0" b="0"/>
            </a:stretch>
          </a:blipFill>
        </p:spPr>
      </p:sp>
      <p:grpSp>
        <p:nvGrpSpPr>
          <p:cNvPr name="Group 6" id="6"/>
          <p:cNvGrpSpPr/>
          <p:nvPr/>
        </p:nvGrpSpPr>
        <p:grpSpPr>
          <a:xfrm rot="0">
            <a:off x="7025082" y="9363865"/>
            <a:ext cx="4057650" cy="556690"/>
            <a:chOff x="0" y="0"/>
            <a:chExt cx="1068681" cy="146618"/>
          </a:xfrm>
        </p:grpSpPr>
        <p:sp>
          <p:nvSpPr>
            <p:cNvPr name="Freeform 7" id="7"/>
            <p:cNvSpPr/>
            <p:nvPr/>
          </p:nvSpPr>
          <p:spPr>
            <a:xfrm flipH="false" flipV="false" rot="0">
              <a:off x="0" y="0"/>
              <a:ext cx="1068681" cy="146618"/>
            </a:xfrm>
            <a:custGeom>
              <a:avLst/>
              <a:gdLst/>
              <a:ahLst/>
              <a:cxnLst/>
              <a:rect r="r" b="b" t="t" l="l"/>
              <a:pathLst>
                <a:path h="146618" w="1068681">
                  <a:moveTo>
                    <a:pt x="0" y="0"/>
                  </a:moveTo>
                  <a:lnTo>
                    <a:pt x="1068681" y="0"/>
                  </a:lnTo>
                  <a:lnTo>
                    <a:pt x="1068681" y="146618"/>
                  </a:lnTo>
                  <a:lnTo>
                    <a:pt x="0" y="146618"/>
                  </a:lnTo>
                  <a:close/>
                </a:path>
              </a:pathLst>
            </a:custGeom>
            <a:solidFill>
              <a:srgbClr val="3E77F4"/>
            </a:solidFill>
          </p:spPr>
        </p:sp>
        <p:sp>
          <p:nvSpPr>
            <p:cNvPr name="TextBox 8" id="8"/>
            <p:cNvSpPr txBox="true"/>
            <p:nvPr/>
          </p:nvSpPr>
          <p:spPr>
            <a:xfrm>
              <a:off x="0" y="28575"/>
              <a:ext cx="1068681" cy="118043"/>
            </a:xfrm>
            <a:prstGeom prst="rect">
              <a:avLst/>
            </a:prstGeom>
          </p:spPr>
          <p:txBody>
            <a:bodyPr anchor="ctr" rtlCol="false" tIns="50800" lIns="50800" bIns="50800" rIns="50800"/>
            <a:lstStyle/>
            <a:p>
              <a:pPr algn="ctr" marL="0" indent="0" lvl="0">
                <a:lnSpc>
                  <a:spcPts val="2640"/>
                </a:lnSpc>
              </a:pPr>
            </a:p>
          </p:txBody>
        </p:sp>
      </p:grpSp>
      <p:sp>
        <p:nvSpPr>
          <p:cNvPr name="Freeform 9" id="9"/>
          <p:cNvSpPr/>
          <p:nvPr/>
        </p:nvSpPr>
        <p:spPr>
          <a:xfrm flipH="false" flipV="false" rot="0">
            <a:off x="4582218" y="2249360"/>
            <a:ext cx="8389104" cy="4572495"/>
          </a:xfrm>
          <a:custGeom>
            <a:avLst/>
            <a:gdLst/>
            <a:ahLst/>
            <a:cxnLst/>
            <a:rect r="r" b="b" t="t" l="l"/>
            <a:pathLst>
              <a:path h="4572495" w="8389104">
                <a:moveTo>
                  <a:pt x="0" y="0"/>
                </a:moveTo>
                <a:lnTo>
                  <a:pt x="8389104" y="0"/>
                </a:lnTo>
                <a:lnTo>
                  <a:pt x="8389104" y="4572495"/>
                </a:lnTo>
                <a:lnTo>
                  <a:pt x="0" y="4572495"/>
                </a:lnTo>
                <a:lnTo>
                  <a:pt x="0" y="0"/>
                </a:lnTo>
                <a:close/>
              </a:path>
            </a:pathLst>
          </a:custGeom>
          <a:blipFill>
            <a:blip r:embed="rId3"/>
            <a:stretch>
              <a:fillRect l="0" t="0" r="0" b="0"/>
            </a:stretch>
          </a:blipFill>
        </p:spPr>
      </p:sp>
      <p:sp>
        <p:nvSpPr>
          <p:cNvPr name="TextBox 10" id="10"/>
          <p:cNvSpPr txBox="true"/>
          <p:nvPr/>
        </p:nvSpPr>
        <p:spPr>
          <a:xfrm rot="0">
            <a:off x="6934990" y="1564156"/>
            <a:ext cx="4057650" cy="378025"/>
          </a:xfrm>
          <a:prstGeom prst="rect">
            <a:avLst/>
          </a:prstGeom>
        </p:spPr>
        <p:txBody>
          <a:bodyPr anchor="t" rtlCol="false" tIns="0" lIns="0" bIns="0" rIns="0">
            <a:spAutoFit/>
          </a:bodyPr>
          <a:lstStyle/>
          <a:p>
            <a:pPr algn="l" marL="0" indent="0" lvl="0">
              <a:lnSpc>
                <a:spcPts val="2882"/>
              </a:lnSpc>
            </a:pPr>
            <a:r>
              <a:rPr lang="en-US" b="true" sz="2882">
                <a:solidFill>
                  <a:srgbClr val="253036"/>
                </a:solidFill>
                <a:latin typeface="Helvetica Now Bold"/>
                <a:ea typeface="Helvetica Now Bold"/>
                <a:cs typeface="Helvetica Now Bold"/>
                <a:sym typeface="Helvetica Now Bold"/>
              </a:rPr>
              <a:t>Presentación fase 1</a:t>
            </a:r>
          </a:p>
        </p:txBody>
      </p:sp>
      <p:sp>
        <p:nvSpPr>
          <p:cNvPr name="TextBox 11" id="11"/>
          <p:cNvSpPr txBox="true"/>
          <p:nvPr/>
        </p:nvSpPr>
        <p:spPr>
          <a:xfrm rot="0">
            <a:off x="6934990" y="8863758"/>
            <a:ext cx="4147743" cy="251444"/>
          </a:xfrm>
          <a:prstGeom prst="rect">
            <a:avLst/>
          </a:prstGeom>
        </p:spPr>
        <p:txBody>
          <a:bodyPr anchor="t" rtlCol="false" tIns="0" lIns="0" bIns="0" rIns="0">
            <a:spAutoFit/>
          </a:bodyPr>
          <a:lstStyle/>
          <a:p>
            <a:pPr algn="ctr" marL="0" indent="0" lvl="0">
              <a:lnSpc>
                <a:spcPts val="1978"/>
              </a:lnSpc>
            </a:pPr>
            <a:r>
              <a:rPr lang="en-US" b="true" sz="1798">
                <a:solidFill>
                  <a:srgbClr val="F2F2F2"/>
                </a:solidFill>
                <a:latin typeface="Helvetica Now Bold"/>
                <a:ea typeface="Helvetica Now Bold"/>
                <a:cs typeface="Helvetica Now Bold"/>
                <a:sym typeface="Helvetica Now Bold"/>
              </a:rPr>
              <a:t>PROFESOR: FELIX CIFUENTES</a:t>
            </a:r>
          </a:p>
        </p:txBody>
      </p:sp>
      <p:sp>
        <p:nvSpPr>
          <p:cNvPr name="TextBox 12" id="12"/>
          <p:cNvSpPr txBox="true"/>
          <p:nvPr/>
        </p:nvSpPr>
        <p:spPr>
          <a:xfrm rot="0">
            <a:off x="6934990" y="9526013"/>
            <a:ext cx="4147743" cy="251444"/>
          </a:xfrm>
          <a:prstGeom prst="rect">
            <a:avLst/>
          </a:prstGeom>
        </p:spPr>
        <p:txBody>
          <a:bodyPr anchor="t" rtlCol="false" tIns="0" lIns="0" bIns="0" rIns="0">
            <a:spAutoFit/>
          </a:bodyPr>
          <a:lstStyle/>
          <a:p>
            <a:pPr algn="ctr" marL="0" indent="0" lvl="0">
              <a:lnSpc>
                <a:spcPts val="1978"/>
              </a:lnSpc>
            </a:pPr>
            <a:r>
              <a:rPr lang="en-US" b="true" sz="1798">
                <a:solidFill>
                  <a:srgbClr val="F2F2F2"/>
                </a:solidFill>
                <a:latin typeface="Helvetica Now Bold"/>
                <a:ea typeface="Helvetica Now Bold"/>
                <a:cs typeface="Helvetica Now Bold"/>
                <a:sym typeface="Helvetica Now Bold"/>
              </a:rPr>
              <a:t>SECCIÓN 004V</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grpSp>
        <p:nvGrpSpPr>
          <p:cNvPr name="Group 6" id="6"/>
          <p:cNvGrpSpPr/>
          <p:nvPr/>
        </p:nvGrpSpPr>
        <p:grpSpPr>
          <a:xfrm rot="0">
            <a:off x="2855751" y="3494663"/>
            <a:ext cx="5133110" cy="5180710"/>
            <a:chOff x="0" y="0"/>
            <a:chExt cx="1351930" cy="1364467"/>
          </a:xfrm>
        </p:grpSpPr>
        <p:sp>
          <p:nvSpPr>
            <p:cNvPr name="Freeform 7" id="7"/>
            <p:cNvSpPr/>
            <p:nvPr/>
          </p:nvSpPr>
          <p:spPr>
            <a:xfrm flipH="false" flipV="false" rot="0">
              <a:off x="0" y="0"/>
              <a:ext cx="1351930" cy="1364467"/>
            </a:xfrm>
            <a:custGeom>
              <a:avLst/>
              <a:gdLst/>
              <a:ahLst/>
              <a:cxnLst/>
              <a:rect r="r" b="b" t="t" l="l"/>
              <a:pathLst>
                <a:path h="1364467" w="1351930">
                  <a:moveTo>
                    <a:pt x="0" y="0"/>
                  </a:moveTo>
                  <a:lnTo>
                    <a:pt x="1351930" y="0"/>
                  </a:lnTo>
                  <a:lnTo>
                    <a:pt x="1351930" y="1364467"/>
                  </a:lnTo>
                  <a:lnTo>
                    <a:pt x="0" y="1364467"/>
                  </a:lnTo>
                  <a:close/>
                </a:path>
              </a:pathLst>
            </a:custGeom>
            <a:solidFill>
              <a:srgbClr val="253036"/>
            </a:solidFill>
            <a:ln w="19050" cap="sq">
              <a:solidFill>
                <a:srgbClr val="000000"/>
              </a:solidFill>
              <a:prstDash val="solid"/>
              <a:miter/>
            </a:ln>
          </p:spPr>
        </p:sp>
        <p:sp>
          <p:nvSpPr>
            <p:cNvPr name="TextBox 8" id="8"/>
            <p:cNvSpPr txBox="true"/>
            <p:nvPr/>
          </p:nvSpPr>
          <p:spPr>
            <a:xfrm>
              <a:off x="0" y="28575"/>
              <a:ext cx="1351930" cy="1335892"/>
            </a:xfrm>
            <a:prstGeom prst="rect">
              <a:avLst/>
            </a:prstGeom>
          </p:spPr>
          <p:txBody>
            <a:bodyPr anchor="ctr" rtlCol="false" tIns="50800" lIns="50800" bIns="50800" rIns="50800"/>
            <a:lstStyle/>
            <a:p>
              <a:pPr algn="ctr" marL="0" indent="0" lvl="0">
                <a:lnSpc>
                  <a:spcPts val="2640"/>
                </a:lnSpc>
              </a:pPr>
            </a:p>
          </p:txBody>
        </p:sp>
      </p:grpSp>
      <p:grpSp>
        <p:nvGrpSpPr>
          <p:cNvPr name="Group 9" id="9"/>
          <p:cNvGrpSpPr/>
          <p:nvPr/>
        </p:nvGrpSpPr>
        <p:grpSpPr>
          <a:xfrm rot="0">
            <a:off x="3082671" y="3693888"/>
            <a:ext cx="4679270" cy="4782259"/>
            <a:chOff x="0" y="0"/>
            <a:chExt cx="1232400" cy="1259525"/>
          </a:xfrm>
        </p:grpSpPr>
        <p:sp>
          <p:nvSpPr>
            <p:cNvPr name="Freeform 10" id="10"/>
            <p:cNvSpPr/>
            <p:nvPr/>
          </p:nvSpPr>
          <p:spPr>
            <a:xfrm flipH="false" flipV="false" rot="0">
              <a:off x="0" y="0"/>
              <a:ext cx="1232400" cy="1259525"/>
            </a:xfrm>
            <a:custGeom>
              <a:avLst/>
              <a:gdLst/>
              <a:ahLst/>
              <a:cxnLst/>
              <a:rect r="r" b="b" t="t" l="l"/>
              <a:pathLst>
                <a:path h="1259525" w="1232400">
                  <a:moveTo>
                    <a:pt x="0" y="0"/>
                  </a:moveTo>
                  <a:lnTo>
                    <a:pt x="1232400" y="0"/>
                  </a:lnTo>
                  <a:lnTo>
                    <a:pt x="1232400" y="1259525"/>
                  </a:lnTo>
                  <a:lnTo>
                    <a:pt x="0" y="1259525"/>
                  </a:lnTo>
                  <a:close/>
                </a:path>
              </a:pathLst>
            </a:custGeom>
            <a:solidFill>
              <a:srgbClr val="2FA2CB"/>
            </a:solidFill>
            <a:ln w="19050" cap="sq">
              <a:solidFill>
                <a:srgbClr val="000000"/>
              </a:solidFill>
              <a:prstDash val="solid"/>
              <a:miter/>
            </a:ln>
          </p:spPr>
        </p:sp>
        <p:sp>
          <p:nvSpPr>
            <p:cNvPr name="TextBox 11" id="11"/>
            <p:cNvSpPr txBox="true"/>
            <p:nvPr/>
          </p:nvSpPr>
          <p:spPr>
            <a:xfrm>
              <a:off x="0" y="28575"/>
              <a:ext cx="1232400" cy="1230950"/>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12" id="12"/>
          <p:cNvGrpSpPr/>
          <p:nvPr/>
        </p:nvGrpSpPr>
        <p:grpSpPr>
          <a:xfrm rot="0">
            <a:off x="9793233" y="3494663"/>
            <a:ext cx="5133110" cy="5180710"/>
            <a:chOff x="0" y="0"/>
            <a:chExt cx="1351930" cy="1364467"/>
          </a:xfrm>
        </p:grpSpPr>
        <p:sp>
          <p:nvSpPr>
            <p:cNvPr name="Freeform 13" id="13"/>
            <p:cNvSpPr/>
            <p:nvPr/>
          </p:nvSpPr>
          <p:spPr>
            <a:xfrm flipH="false" flipV="false" rot="0">
              <a:off x="0" y="0"/>
              <a:ext cx="1351930" cy="1364467"/>
            </a:xfrm>
            <a:custGeom>
              <a:avLst/>
              <a:gdLst/>
              <a:ahLst/>
              <a:cxnLst/>
              <a:rect r="r" b="b" t="t" l="l"/>
              <a:pathLst>
                <a:path h="1364467" w="1351930">
                  <a:moveTo>
                    <a:pt x="0" y="0"/>
                  </a:moveTo>
                  <a:lnTo>
                    <a:pt x="1351930" y="0"/>
                  </a:lnTo>
                  <a:lnTo>
                    <a:pt x="1351930" y="1364467"/>
                  </a:lnTo>
                  <a:lnTo>
                    <a:pt x="0" y="1364467"/>
                  </a:lnTo>
                  <a:close/>
                </a:path>
              </a:pathLst>
            </a:custGeom>
            <a:solidFill>
              <a:srgbClr val="253036"/>
            </a:solidFill>
            <a:ln w="19050" cap="sq">
              <a:solidFill>
                <a:srgbClr val="000000"/>
              </a:solidFill>
              <a:prstDash val="solid"/>
              <a:miter/>
            </a:ln>
          </p:spPr>
        </p:sp>
        <p:sp>
          <p:nvSpPr>
            <p:cNvPr name="TextBox 14" id="14"/>
            <p:cNvSpPr txBox="true"/>
            <p:nvPr/>
          </p:nvSpPr>
          <p:spPr>
            <a:xfrm>
              <a:off x="0" y="28575"/>
              <a:ext cx="1351930" cy="1335892"/>
            </a:xfrm>
            <a:prstGeom prst="rect">
              <a:avLst/>
            </a:prstGeom>
          </p:spPr>
          <p:txBody>
            <a:bodyPr anchor="ctr" rtlCol="false" tIns="50800" lIns="50800" bIns="50800" rIns="50800"/>
            <a:lstStyle/>
            <a:p>
              <a:pPr algn="ctr" marL="0" indent="0" lvl="0">
                <a:lnSpc>
                  <a:spcPts val="2640"/>
                </a:lnSpc>
              </a:pPr>
            </a:p>
          </p:txBody>
        </p:sp>
      </p:grpSp>
      <p:grpSp>
        <p:nvGrpSpPr>
          <p:cNvPr name="Group 15" id="15"/>
          <p:cNvGrpSpPr/>
          <p:nvPr/>
        </p:nvGrpSpPr>
        <p:grpSpPr>
          <a:xfrm rot="0">
            <a:off x="10020154" y="3693888"/>
            <a:ext cx="4679270" cy="4782259"/>
            <a:chOff x="0" y="0"/>
            <a:chExt cx="1232400" cy="1259525"/>
          </a:xfrm>
        </p:grpSpPr>
        <p:sp>
          <p:nvSpPr>
            <p:cNvPr name="Freeform 16" id="16"/>
            <p:cNvSpPr/>
            <p:nvPr/>
          </p:nvSpPr>
          <p:spPr>
            <a:xfrm flipH="false" flipV="false" rot="0">
              <a:off x="0" y="0"/>
              <a:ext cx="1232400" cy="1259525"/>
            </a:xfrm>
            <a:custGeom>
              <a:avLst/>
              <a:gdLst/>
              <a:ahLst/>
              <a:cxnLst/>
              <a:rect r="r" b="b" t="t" l="l"/>
              <a:pathLst>
                <a:path h="1259525" w="1232400">
                  <a:moveTo>
                    <a:pt x="0" y="0"/>
                  </a:moveTo>
                  <a:lnTo>
                    <a:pt x="1232400" y="0"/>
                  </a:lnTo>
                  <a:lnTo>
                    <a:pt x="1232400" y="1259525"/>
                  </a:lnTo>
                  <a:lnTo>
                    <a:pt x="0" y="1259525"/>
                  </a:lnTo>
                  <a:close/>
                </a:path>
              </a:pathLst>
            </a:custGeom>
            <a:solidFill>
              <a:srgbClr val="2FA2CB"/>
            </a:solidFill>
            <a:ln w="19050" cap="sq">
              <a:solidFill>
                <a:srgbClr val="000000"/>
              </a:solidFill>
              <a:prstDash val="solid"/>
              <a:miter/>
            </a:ln>
          </p:spPr>
        </p:sp>
        <p:sp>
          <p:nvSpPr>
            <p:cNvPr name="TextBox 17" id="17"/>
            <p:cNvSpPr txBox="true"/>
            <p:nvPr/>
          </p:nvSpPr>
          <p:spPr>
            <a:xfrm>
              <a:off x="0" y="28575"/>
              <a:ext cx="1232400" cy="1230950"/>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Freeform 18" id="18"/>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3"/>
            <a:stretch>
              <a:fillRect l="0" t="0" r="0" b="0"/>
            </a:stretch>
          </a:blipFill>
        </p:spPr>
      </p:sp>
      <p:sp>
        <p:nvSpPr>
          <p:cNvPr name="Freeform 19" id="19"/>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4"/>
            <a:stretch>
              <a:fillRect l="0" t="0" r="-22657" b="0"/>
            </a:stretch>
          </a:blipFill>
        </p:spPr>
      </p:sp>
      <p:sp>
        <p:nvSpPr>
          <p:cNvPr name="TextBox 20" id="20"/>
          <p:cNvSpPr txBox="true"/>
          <p:nvPr/>
        </p:nvSpPr>
        <p:spPr>
          <a:xfrm rot="0">
            <a:off x="1028700" y="1418835"/>
            <a:ext cx="9638674"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Integrantes del proyecto</a:t>
            </a:r>
          </a:p>
        </p:txBody>
      </p:sp>
      <p:sp>
        <p:nvSpPr>
          <p:cNvPr name="TextBox 21" id="21"/>
          <p:cNvSpPr txBox="true"/>
          <p:nvPr/>
        </p:nvSpPr>
        <p:spPr>
          <a:xfrm rot="0">
            <a:off x="3463329" y="3891312"/>
            <a:ext cx="2720320" cy="742950"/>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Benjamín Montero Tolorza</a:t>
            </a:r>
          </a:p>
        </p:txBody>
      </p:sp>
      <p:sp>
        <p:nvSpPr>
          <p:cNvPr name="TextBox 22" id="22"/>
          <p:cNvSpPr txBox="true"/>
          <p:nvPr/>
        </p:nvSpPr>
        <p:spPr>
          <a:xfrm rot="0">
            <a:off x="3294020" y="4890503"/>
            <a:ext cx="4256573" cy="3857625"/>
          </a:xfrm>
          <a:prstGeom prst="rect">
            <a:avLst/>
          </a:prstGeom>
        </p:spPr>
        <p:txBody>
          <a:bodyPr anchor="t" rtlCol="false" tIns="0" lIns="0" bIns="0" rIns="0">
            <a:spAutoFit/>
          </a:bodyPr>
          <a:lstStyle/>
          <a:p>
            <a:pPr algn="l">
              <a:lnSpc>
                <a:spcPts val="2038"/>
              </a:lnSpc>
            </a:pPr>
            <a:r>
              <a:rPr lang="en-US" sz="1699" b="true">
                <a:solidFill>
                  <a:srgbClr val="000000"/>
                </a:solidFill>
                <a:latin typeface="Helvetica Now Bold"/>
                <a:ea typeface="Helvetica Now Bold"/>
                <a:cs typeface="Helvetica Now Bold"/>
                <a:sym typeface="Helvetica Now Bold"/>
              </a:rPr>
              <a:t>Cargo: </a:t>
            </a:r>
            <a:r>
              <a:rPr lang="en-US" sz="1699">
                <a:solidFill>
                  <a:srgbClr val="000000"/>
                </a:solidFill>
                <a:latin typeface="Helvetica Now"/>
                <a:ea typeface="Helvetica Now"/>
                <a:cs typeface="Helvetica Now"/>
                <a:sym typeface="Helvetica Now"/>
              </a:rPr>
              <a:t> Líder de Desarrollo Full-Stack &amp; Seguridad Transaccional.</a:t>
            </a:r>
          </a:p>
          <a:p>
            <a:pPr algn="l">
              <a:lnSpc>
                <a:spcPts val="2038"/>
              </a:lnSpc>
            </a:pPr>
          </a:p>
          <a:p>
            <a:pPr algn="l">
              <a:lnSpc>
                <a:spcPts val="2038"/>
              </a:lnSpc>
            </a:pPr>
            <a:r>
              <a:rPr lang="en-US" sz="1699" b="true">
                <a:solidFill>
                  <a:srgbClr val="000000"/>
                </a:solidFill>
                <a:latin typeface="Helvetica Now Bold"/>
                <a:ea typeface="Helvetica Now Bold"/>
                <a:cs typeface="Helvetica Now Bold"/>
                <a:sym typeface="Helvetica Now Bold"/>
              </a:rPr>
              <a:t>Funciones:</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Modelado relacional y reglas de negocio.</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Integración de la pasarela de pago</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Implementación del sistema de control de acceso.</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Desarrollo de la interfaz web en React/Next.js</a:t>
            </a:r>
          </a:p>
          <a:p>
            <a:pPr algn="l">
              <a:lnSpc>
                <a:spcPts val="2038"/>
              </a:lnSpc>
            </a:pPr>
          </a:p>
          <a:p>
            <a:pPr algn="l">
              <a:lnSpc>
                <a:spcPts val="2038"/>
              </a:lnSpc>
            </a:pPr>
          </a:p>
          <a:p>
            <a:pPr algn="l">
              <a:lnSpc>
                <a:spcPts val="2038"/>
              </a:lnSpc>
            </a:pPr>
          </a:p>
          <a:p>
            <a:pPr algn="l" marL="0" indent="0" lvl="0">
              <a:lnSpc>
                <a:spcPts val="2038"/>
              </a:lnSpc>
              <a:spcBef>
                <a:spcPct val="0"/>
              </a:spcBef>
            </a:pPr>
          </a:p>
        </p:txBody>
      </p:sp>
      <p:sp>
        <p:nvSpPr>
          <p:cNvPr name="TextBox 23" id="23"/>
          <p:cNvSpPr txBox="true"/>
          <p:nvPr/>
        </p:nvSpPr>
        <p:spPr>
          <a:xfrm rot="0">
            <a:off x="10541713" y="3891312"/>
            <a:ext cx="2720320" cy="742950"/>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Matías Marín Lagos</a:t>
            </a:r>
          </a:p>
        </p:txBody>
      </p:sp>
      <p:sp>
        <p:nvSpPr>
          <p:cNvPr name="TextBox 24" id="24"/>
          <p:cNvSpPr txBox="true"/>
          <p:nvPr/>
        </p:nvSpPr>
        <p:spPr>
          <a:xfrm rot="0">
            <a:off x="10231502" y="4817748"/>
            <a:ext cx="4256573" cy="4114800"/>
          </a:xfrm>
          <a:prstGeom prst="rect">
            <a:avLst/>
          </a:prstGeom>
        </p:spPr>
        <p:txBody>
          <a:bodyPr anchor="t" rtlCol="false" tIns="0" lIns="0" bIns="0" rIns="0">
            <a:spAutoFit/>
          </a:bodyPr>
          <a:lstStyle/>
          <a:p>
            <a:pPr algn="l">
              <a:lnSpc>
                <a:spcPts val="2038"/>
              </a:lnSpc>
            </a:pPr>
            <a:r>
              <a:rPr lang="en-US" sz="1699" b="true">
                <a:solidFill>
                  <a:srgbClr val="000000"/>
                </a:solidFill>
                <a:latin typeface="Helvetica Now Bold"/>
                <a:ea typeface="Helvetica Now Bold"/>
                <a:cs typeface="Helvetica Now Bold"/>
                <a:sym typeface="Helvetica Now Bold"/>
              </a:rPr>
              <a:t>Cargo: </a:t>
            </a:r>
            <a:r>
              <a:rPr lang="en-US" sz="1699">
                <a:solidFill>
                  <a:srgbClr val="000000"/>
                </a:solidFill>
                <a:latin typeface="Helvetica Now"/>
                <a:ea typeface="Helvetica Now"/>
                <a:cs typeface="Helvetica Now"/>
                <a:sym typeface="Helvetica Now"/>
              </a:rPr>
              <a:t> Líder de Desarrollo Full-Stack &amp; Arquitectura Geoespacial</a:t>
            </a:r>
          </a:p>
          <a:p>
            <a:pPr algn="l">
              <a:lnSpc>
                <a:spcPts val="2038"/>
              </a:lnSpc>
            </a:pPr>
          </a:p>
          <a:p>
            <a:pPr algn="l">
              <a:lnSpc>
                <a:spcPts val="2038"/>
              </a:lnSpc>
            </a:pPr>
            <a:r>
              <a:rPr lang="en-US" sz="1699" b="true">
                <a:solidFill>
                  <a:srgbClr val="000000"/>
                </a:solidFill>
                <a:latin typeface="Helvetica Now Bold"/>
                <a:ea typeface="Helvetica Now Bold"/>
                <a:cs typeface="Helvetica Now Bold"/>
                <a:sym typeface="Helvetica Now Bold"/>
              </a:rPr>
              <a:t>Funciones:</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Diseño e implementación del esquema de base de datos.</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Desarrollo de la API REST en NestJS para la lógica de búsqueda.</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Integración del mapa interactivo con centrado GPS.</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Optimización de la arquitectura backend.</a:t>
            </a:r>
          </a:p>
          <a:p>
            <a:pPr algn="l">
              <a:lnSpc>
                <a:spcPts val="2038"/>
              </a:lnSpc>
            </a:pPr>
          </a:p>
          <a:p>
            <a:pPr algn="l">
              <a:lnSpc>
                <a:spcPts val="2038"/>
              </a:lnSpc>
            </a:pPr>
          </a:p>
          <a:p>
            <a:pPr algn="l">
              <a:lnSpc>
                <a:spcPts val="2038"/>
              </a:lnSpc>
            </a:pPr>
          </a:p>
          <a:p>
            <a:pPr algn="l" marL="0" indent="0" lvl="0">
              <a:lnSpc>
                <a:spcPts val="2038"/>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grpSp>
        <p:nvGrpSpPr>
          <p:cNvPr name="Group 6" id="6"/>
          <p:cNvGrpSpPr/>
          <p:nvPr/>
        </p:nvGrpSpPr>
        <p:grpSpPr>
          <a:xfrm rot="0">
            <a:off x="2855751" y="3494663"/>
            <a:ext cx="5133110" cy="5180710"/>
            <a:chOff x="0" y="0"/>
            <a:chExt cx="1351930" cy="1364467"/>
          </a:xfrm>
        </p:grpSpPr>
        <p:sp>
          <p:nvSpPr>
            <p:cNvPr name="Freeform 7" id="7"/>
            <p:cNvSpPr/>
            <p:nvPr/>
          </p:nvSpPr>
          <p:spPr>
            <a:xfrm flipH="false" flipV="false" rot="0">
              <a:off x="0" y="0"/>
              <a:ext cx="1351930" cy="1364467"/>
            </a:xfrm>
            <a:custGeom>
              <a:avLst/>
              <a:gdLst/>
              <a:ahLst/>
              <a:cxnLst/>
              <a:rect r="r" b="b" t="t" l="l"/>
              <a:pathLst>
                <a:path h="1364467" w="1351930">
                  <a:moveTo>
                    <a:pt x="0" y="0"/>
                  </a:moveTo>
                  <a:lnTo>
                    <a:pt x="1351930" y="0"/>
                  </a:lnTo>
                  <a:lnTo>
                    <a:pt x="1351930" y="1364467"/>
                  </a:lnTo>
                  <a:lnTo>
                    <a:pt x="0" y="1364467"/>
                  </a:lnTo>
                  <a:close/>
                </a:path>
              </a:pathLst>
            </a:custGeom>
            <a:solidFill>
              <a:srgbClr val="253036"/>
            </a:solidFill>
            <a:ln w="19050" cap="sq">
              <a:solidFill>
                <a:srgbClr val="000000"/>
              </a:solidFill>
              <a:prstDash val="solid"/>
              <a:miter/>
            </a:ln>
          </p:spPr>
        </p:sp>
        <p:sp>
          <p:nvSpPr>
            <p:cNvPr name="TextBox 8" id="8"/>
            <p:cNvSpPr txBox="true"/>
            <p:nvPr/>
          </p:nvSpPr>
          <p:spPr>
            <a:xfrm>
              <a:off x="0" y="28575"/>
              <a:ext cx="1351930" cy="1335892"/>
            </a:xfrm>
            <a:prstGeom prst="rect">
              <a:avLst/>
            </a:prstGeom>
          </p:spPr>
          <p:txBody>
            <a:bodyPr anchor="ctr" rtlCol="false" tIns="50800" lIns="50800" bIns="50800" rIns="50800"/>
            <a:lstStyle/>
            <a:p>
              <a:pPr algn="ctr" marL="0" indent="0" lvl="0">
                <a:lnSpc>
                  <a:spcPts val="2640"/>
                </a:lnSpc>
              </a:pPr>
            </a:p>
          </p:txBody>
        </p:sp>
      </p:grpSp>
      <p:grpSp>
        <p:nvGrpSpPr>
          <p:cNvPr name="Group 9" id="9"/>
          <p:cNvGrpSpPr/>
          <p:nvPr/>
        </p:nvGrpSpPr>
        <p:grpSpPr>
          <a:xfrm rot="0">
            <a:off x="3082671" y="3693888"/>
            <a:ext cx="4679270" cy="4782259"/>
            <a:chOff x="0" y="0"/>
            <a:chExt cx="1232400" cy="1259525"/>
          </a:xfrm>
        </p:grpSpPr>
        <p:sp>
          <p:nvSpPr>
            <p:cNvPr name="Freeform 10" id="10"/>
            <p:cNvSpPr/>
            <p:nvPr/>
          </p:nvSpPr>
          <p:spPr>
            <a:xfrm flipH="false" flipV="false" rot="0">
              <a:off x="0" y="0"/>
              <a:ext cx="1232400" cy="1259525"/>
            </a:xfrm>
            <a:custGeom>
              <a:avLst/>
              <a:gdLst/>
              <a:ahLst/>
              <a:cxnLst/>
              <a:rect r="r" b="b" t="t" l="l"/>
              <a:pathLst>
                <a:path h="1259525" w="1232400">
                  <a:moveTo>
                    <a:pt x="0" y="0"/>
                  </a:moveTo>
                  <a:lnTo>
                    <a:pt x="1232400" y="0"/>
                  </a:lnTo>
                  <a:lnTo>
                    <a:pt x="1232400" y="1259525"/>
                  </a:lnTo>
                  <a:lnTo>
                    <a:pt x="0" y="1259525"/>
                  </a:lnTo>
                  <a:close/>
                </a:path>
              </a:pathLst>
            </a:custGeom>
            <a:solidFill>
              <a:srgbClr val="2FA2CB"/>
            </a:solidFill>
            <a:ln w="19050" cap="sq">
              <a:solidFill>
                <a:srgbClr val="000000"/>
              </a:solidFill>
              <a:prstDash val="solid"/>
              <a:miter/>
            </a:ln>
          </p:spPr>
        </p:sp>
        <p:sp>
          <p:nvSpPr>
            <p:cNvPr name="TextBox 11" id="11"/>
            <p:cNvSpPr txBox="true"/>
            <p:nvPr/>
          </p:nvSpPr>
          <p:spPr>
            <a:xfrm>
              <a:off x="0" y="28575"/>
              <a:ext cx="1232400" cy="1230950"/>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12" id="12"/>
          <p:cNvGrpSpPr/>
          <p:nvPr/>
        </p:nvGrpSpPr>
        <p:grpSpPr>
          <a:xfrm rot="0">
            <a:off x="9793233" y="3494663"/>
            <a:ext cx="5133110" cy="5180710"/>
            <a:chOff x="0" y="0"/>
            <a:chExt cx="1351930" cy="1364467"/>
          </a:xfrm>
        </p:grpSpPr>
        <p:sp>
          <p:nvSpPr>
            <p:cNvPr name="Freeform 13" id="13"/>
            <p:cNvSpPr/>
            <p:nvPr/>
          </p:nvSpPr>
          <p:spPr>
            <a:xfrm flipH="false" flipV="false" rot="0">
              <a:off x="0" y="0"/>
              <a:ext cx="1351930" cy="1364467"/>
            </a:xfrm>
            <a:custGeom>
              <a:avLst/>
              <a:gdLst/>
              <a:ahLst/>
              <a:cxnLst/>
              <a:rect r="r" b="b" t="t" l="l"/>
              <a:pathLst>
                <a:path h="1364467" w="1351930">
                  <a:moveTo>
                    <a:pt x="0" y="0"/>
                  </a:moveTo>
                  <a:lnTo>
                    <a:pt x="1351930" y="0"/>
                  </a:lnTo>
                  <a:lnTo>
                    <a:pt x="1351930" y="1364467"/>
                  </a:lnTo>
                  <a:lnTo>
                    <a:pt x="0" y="1364467"/>
                  </a:lnTo>
                  <a:close/>
                </a:path>
              </a:pathLst>
            </a:custGeom>
            <a:solidFill>
              <a:srgbClr val="253036"/>
            </a:solidFill>
            <a:ln w="19050" cap="sq">
              <a:solidFill>
                <a:srgbClr val="000000"/>
              </a:solidFill>
              <a:prstDash val="solid"/>
              <a:miter/>
            </a:ln>
          </p:spPr>
        </p:sp>
        <p:sp>
          <p:nvSpPr>
            <p:cNvPr name="TextBox 14" id="14"/>
            <p:cNvSpPr txBox="true"/>
            <p:nvPr/>
          </p:nvSpPr>
          <p:spPr>
            <a:xfrm>
              <a:off x="0" y="28575"/>
              <a:ext cx="1351930" cy="1335892"/>
            </a:xfrm>
            <a:prstGeom prst="rect">
              <a:avLst/>
            </a:prstGeom>
          </p:spPr>
          <p:txBody>
            <a:bodyPr anchor="ctr" rtlCol="false" tIns="50800" lIns="50800" bIns="50800" rIns="50800"/>
            <a:lstStyle/>
            <a:p>
              <a:pPr algn="ctr" marL="0" indent="0" lvl="0">
                <a:lnSpc>
                  <a:spcPts val="2640"/>
                </a:lnSpc>
              </a:pPr>
            </a:p>
          </p:txBody>
        </p:sp>
      </p:grpSp>
      <p:grpSp>
        <p:nvGrpSpPr>
          <p:cNvPr name="Group 15" id="15"/>
          <p:cNvGrpSpPr/>
          <p:nvPr/>
        </p:nvGrpSpPr>
        <p:grpSpPr>
          <a:xfrm rot="0">
            <a:off x="10020154" y="3693888"/>
            <a:ext cx="4679270" cy="4782259"/>
            <a:chOff x="0" y="0"/>
            <a:chExt cx="1232400" cy="1259525"/>
          </a:xfrm>
        </p:grpSpPr>
        <p:sp>
          <p:nvSpPr>
            <p:cNvPr name="Freeform 16" id="16"/>
            <p:cNvSpPr/>
            <p:nvPr/>
          </p:nvSpPr>
          <p:spPr>
            <a:xfrm flipH="false" flipV="false" rot="0">
              <a:off x="0" y="0"/>
              <a:ext cx="1232400" cy="1259525"/>
            </a:xfrm>
            <a:custGeom>
              <a:avLst/>
              <a:gdLst/>
              <a:ahLst/>
              <a:cxnLst/>
              <a:rect r="r" b="b" t="t" l="l"/>
              <a:pathLst>
                <a:path h="1259525" w="1232400">
                  <a:moveTo>
                    <a:pt x="0" y="0"/>
                  </a:moveTo>
                  <a:lnTo>
                    <a:pt x="1232400" y="0"/>
                  </a:lnTo>
                  <a:lnTo>
                    <a:pt x="1232400" y="1259525"/>
                  </a:lnTo>
                  <a:lnTo>
                    <a:pt x="0" y="1259525"/>
                  </a:lnTo>
                  <a:close/>
                </a:path>
              </a:pathLst>
            </a:custGeom>
            <a:solidFill>
              <a:srgbClr val="2FA2CB"/>
            </a:solidFill>
            <a:ln w="19050" cap="sq">
              <a:solidFill>
                <a:srgbClr val="000000"/>
              </a:solidFill>
              <a:prstDash val="solid"/>
              <a:miter/>
            </a:ln>
          </p:spPr>
        </p:sp>
        <p:sp>
          <p:nvSpPr>
            <p:cNvPr name="TextBox 17" id="17"/>
            <p:cNvSpPr txBox="true"/>
            <p:nvPr/>
          </p:nvSpPr>
          <p:spPr>
            <a:xfrm>
              <a:off x="0" y="28575"/>
              <a:ext cx="1232400" cy="1230950"/>
            </a:xfrm>
            <a:prstGeom prst="rect">
              <a:avLst/>
            </a:prstGeom>
          </p:spPr>
          <p:txBody>
            <a:bodyPr anchor="ctr" rtlCol="false" tIns="50800" lIns="50800" bIns="50800" rIns="50800"/>
            <a:lstStyle/>
            <a:p>
              <a:pPr algn="ctr" marL="0" indent="0" lvl="0">
                <a:lnSpc>
                  <a:spcPts val="2640"/>
                </a:lnSpc>
                <a:spcBef>
                  <a:spcPct val="0"/>
                </a:spcBef>
              </a:pPr>
            </a:p>
          </p:txBody>
        </p:sp>
      </p:grpSp>
      <p:pic>
        <p:nvPicPr>
          <p:cNvPr name="Picture 18" id="18"/>
          <p:cNvPicPr>
            <a:picLocks noChangeAspect="true"/>
          </p:cNvPicPr>
          <p:nvPr/>
        </p:nvPicPr>
        <p:blipFill>
          <a:blip r:embed="rId3"/>
          <a:stretch>
            <a:fillRect/>
          </a:stretch>
        </p:blipFill>
        <p:spPr>
          <a:xfrm rot="0">
            <a:off x="8298032" y="5361834"/>
            <a:ext cx="1186030" cy="1650888"/>
          </a:xfrm>
          <a:prstGeom prst="rect">
            <a:avLst/>
          </a:prstGeom>
        </p:spPr>
      </p:pic>
      <p:sp>
        <p:nvSpPr>
          <p:cNvPr name="TextBox 19" id="19"/>
          <p:cNvSpPr txBox="true"/>
          <p:nvPr/>
        </p:nvSpPr>
        <p:spPr>
          <a:xfrm rot="0">
            <a:off x="1028700" y="1418835"/>
            <a:ext cx="8531857"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Problema &amp; Solución</a:t>
            </a:r>
          </a:p>
        </p:txBody>
      </p:sp>
      <p:sp>
        <p:nvSpPr>
          <p:cNvPr name="TextBox 20" id="20"/>
          <p:cNvSpPr txBox="true"/>
          <p:nvPr/>
        </p:nvSpPr>
        <p:spPr>
          <a:xfrm rot="0">
            <a:off x="3463329" y="3891312"/>
            <a:ext cx="4729748" cy="371475"/>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Problemas Identificados</a:t>
            </a:r>
          </a:p>
        </p:txBody>
      </p:sp>
      <p:sp>
        <p:nvSpPr>
          <p:cNvPr name="TextBox 21" id="21"/>
          <p:cNvSpPr txBox="true"/>
          <p:nvPr/>
        </p:nvSpPr>
        <p:spPr>
          <a:xfrm rot="0">
            <a:off x="3293209" y="4509264"/>
            <a:ext cx="4256573" cy="3857625"/>
          </a:xfrm>
          <a:prstGeom prst="rect">
            <a:avLst/>
          </a:prstGeom>
        </p:spPr>
        <p:txBody>
          <a:bodyPr anchor="t" rtlCol="false" tIns="0" lIns="0" bIns="0" rIns="0">
            <a:spAutoFit/>
          </a:bodyPr>
          <a:lstStyle/>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Descubrimiento fragmentado:</a:t>
            </a:r>
            <a:r>
              <a:rPr lang="en-US" sz="1699">
                <a:solidFill>
                  <a:srgbClr val="000000"/>
                </a:solidFill>
                <a:latin typeface="Helvetica Now"/>
                <a:ea typeface="Helvetica Now"/>
                <a:cs typeface="Helvetica Now"/>
                <a:sym typeface="Helvetica Now"/>
              </a:rPr>
              <a:t> Dificultad para encontrar eventos cercanos al depender de algoritmos de redes sociales y difusión boca a boca.</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Altos costos de difusión:</a:t>
            </a:r>
            <a:r>
              <a:rPr lang="en-US" sz="1699">
                <a:solidFill>
                  <a:srgbClr val="000000"/>
                </a:solidFill>
                <a:latin typeface="Helvetica Now"/>
                <a:ea typeface="Helvetica Now"/>
                <a:cs typeface="Helvetica Now"/>
                <a:sym typeface="Helvetica Now"/>
              </a:rPr>
              <a:t> Las ticketeras comerciales resultan inaccesibles para pequeños organizadores y agrupaciones comunitarias</a:t>
            </a:r>
          </a:p>
          <a:p>
            <a:pPr algn="l">
              <a:lnSpc>
                <a:spcPts val="2038"/>
              </a:lnSpc>
            </a:pPr>
          </a:p>
          <a:p>
            <a:pPr algn="l">
              <a:lnSpc>
                <a:spcPts val="2038"/>
              </a:lnSpc>
            </a:pPr>
          </a:p>
          <a:p>
            <a:pPr algn="l" marL="0" indent="0" lvl="0">
              <a:lnSpc>
                <a:spcPts val="2038"/>
              </a:lnSpc>
              <a:spcBef>
                <a:spcPct val="0"/>
              </a:spcBef>
            </a:pPr>
          </a:p>
        </p:txBody>
      </p:sp>
      <p:sp>
        <p:nvSpPr>
          <p:cNvPr name="TextBox 22" id="22"/>
          <p:cNvSpPr txBox="true"/>
          <p:nvPr/>
        </p:nvSpPr>
        <p:spPr>
          <a:xfrm rot="0">
            <a:off x="10541713" y="3891312"/>
            <a:ext cx="4157710" cy="371475"/>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Propuesta de solución</a:t>
            </a:r>
          </a:p>
        </p:txBody>
      </p:sp>
      <p:sp>
        <p:nvSpPr>
          <p:cNvPr name="TextBox 23" id="23"/>
          <p:cNvSpPr txBox="true"/>
          <p:nvPr/>
        </p:nvSpPr>
        <p:spPr>
          <a:xfrm rot="0">
            <a:off x="10231502" y="4817748"/>
            <a:ext cx="4256573" cy="2828925"/>
          </a:xfrm>
          <a:prstGeom prst="rect">
            <a:avLst/>
          </a:prstGeom>
        </p:spPr>
        <p:txBody>
          <a:bodyPr anchor="t" rtlCol="false" tIns="0" lIns="0" bIns="0" rIns="0">
            <a:spAutoFit/>
          </a:bodyPr>
          <a:lstStyle/>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Sitio web  para organizadores de eventos y personas que buscan eventos por preferencias de estilo, facilitando la conexión “evento -  asistente”, evitando depender de ticketeras masivas o del 100% de uso de redes sociales.</a:t>
            </a:r>
          </a:p>
          <a:p>
            <a:pPr algn="l">
              <a:lnSpc>
                <a:spcPts val="2038"/>
              </a:lnSpc>
            </a:pPr>
          </a:p>
          <a:p>
            <a:pPr algn="l">
              <a:lnSpc>
                <a:spcPts val="2038"/>
              </a:lnSpc>
            </a:pPr>
          </a:p>
          <a:p>
            <a:pPr algn="l">
              <a:lnSpc>
                <a:spcPts val="2038"/>
              </a:lnSpc>
            </a:pPr>
          </a:p>
          <a:p>
            <a:pPr algn="l" marL="0" indent="0" lvl="0">
              <a:lnSpc>
                <a:spcPts val="2038"/>
              </a:lnSpc>
              <a:spcBef>
                <a:spcPct val="0"/>
              </a:spcBef>
            </a:pPr>
          </a:p>
        </p:txBody>
      </p:sp>
      <p:sp>
        <p:nvSpPr>
          <p:cNvPr name="Freeform 24" id="24"/>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4"/>
            <a:stretch>
              <a:fillRect l="0" t="0" r="0" b="0"/>
            </a:stretch>
          </a:blipFill>
        </p:spPr>
      </p:sp>
      <p:sp>
        <p:nvSpPr>
          <p:cNvPr name="Freeform 25" id="25"/>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5"/>
            <a:stretch>
              <a:fillRect l="0" t="0" r="-22657"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grpSp>
        <p:nvGrpSpPr>
          <p:cNvPr name="Group 6" id="6"/>
          <p:cNvGrpSpPr/>
          <p:nvPr/>
        </p:nvGrpSpPr>
        <p:grpSpPr>
          <a:xfrm rot="0">
            <a:off x="2855751" y="3494663"/>
            <a:ext cx="5133110" cy="5180710"/>
            <a:chOff x="0" y="0"/>
            <a:chExt cx="1351930" cy="1364467"/>
          </a:xfrm>
        </p:grpSpPr>
        <p:sp>
          <p:nvSpPr>
            <p:cNvPr name="Freeform 7" id="7"/>
            <p:cNvSpPr/>
            <p:nvPr/>
          </p:nvSpPr>
          <p:spPr>
            <a:xfrm flipH="false" flipV="false" rot="0">
              <a:off x="0" y="0"/>
              <a:ext cx="1351930" cy="1364467"/>
            </a:xfrm>
            <a:custGeom>
              <a:avLst/>
              <a:gdLst/>
              <a:ahLst/>
              <a:cxnLst/>
              <a:rect r="r" b="b" t="t" l="l"/>
              <a:pathLst>
                <a:path h="1364467" w="1351930">
                  <a:moveTo>
                    <a:pt x="0" y="0"/>
                  </a:moveTo>
                  <a:lnTo>
                    <a:pt x="1351930" y="0"/>
                  </a:lnTo>
                  <a:lnTo>
                    <a:pt x="1351930" y="1364467"/>
                  </a:lnTo>
                  <a:lnTo>
                    <a:pt x="0" y="1364467"/>
                  </a:lnTo>
                  <a:close/>
                </a:path>
              </a:pathLst>
            </a:custGeom>
            <a:solidFill>
              <a:srgbClr val="253036"/>
            </a:solidFill>
            <a:ln w="19050" cap="sq">
              <a:solidFill>
                <a:srgbClr val="000000"/>
              </a:solidFill>
              <a:prstDash val="solid"/>
              <a:miter/>
            </a:ln>
          </p:spPr>
        </p:sp>
        <p:sp>
          <p:nvSpPr>
            <p:cNvPr name="TextBox 8" id="8"/>
            <p:cNvSpPr txBox="true"/>
            <p:nvPr/>
          </p:nvSpPr>
          <p:spPr>
            <a:xfrm>
              <a:off x="0" y="28575"/>
              <a:ext cx="1351930" cy="1335892"/>
            </a:xfrm>
            <a:prstGeom prst="rect">
              <a:avLst/>
            </a:prstGeom>
          </p:spPr>
          <p:txBody>
            <a:bodyPr anchor="ctr" rtlCol="false" tIns="50800" lIns="50800" bIns="50800" rIns="50800"/>
            <a:lstStyle/>
            <a:p>
              <a:pPr algn="ctr" marL="0" indent="0" lvl="0">
                <a:lnSpc>
                  <a:spcPts val="2640"/>
                </a:lnSpc>
              </a:pPr>
            </a:p>
          </p:txBody>
        </p:sp>
      </p:grpSp>
      <p:grpSp>
        <p:nvGrpSpPr>
          <p:cNvPr name="Group 9" id="9"/>
          <p:cNvGrpSpPr/>
          <p:nvPr/>
        </p:nvGrpSpPr>
        <p:grpSpPr>
          <a:xfrm rot="0">
            <a:off x="3082671" y="3693888"/>
            <a:ext cx="4679270" cy="4782259"/>
            <a:chOff x="0" y="0"/>
            <a:chExt cx="1232400" cy="1259525"/>
          </a:xfrm>
        </p:grpSpPr>
        <p:sp>
          <p:nvSpPr>
            <p:cNvPr name="Freeform 10" id="10"/>
            <p:cNvSpPr/>
            <p:nvPr/>
          </p:nvSpPr>
          <p:spPr>
            <a:xfrm flipH="false" flipV="false" rot="0">
              <a:off x="0" y="0"/>
              <a:ext cx="1232400" cy="1259525"/>
            </a:xfrm>
            <a:custGeom>
              <a:avLst/>
              <a:gdLst/>
              <a:ahLst/>
              <a:cxnLst/>
              <a:rect r="r" b="b" t="t" l="l"/>
              <a:pathLst>
                <a:path h="1259525" w="1232400">
                  <a:moveTo>
                    <a:pt x="0" y="0"/>
                  </a:moveTo>
                  <a:lnTo>
                    <a:pt x="1232400" y="0"/>
                  </a:lnTo>
                  <a:lnTo>
                    <a:pt x="1232400" y="1259525"/>
                  </a:lnTo>
                  <a:lnTo>
                    <a:pt x="0" y="1259525"/>
                  </a:lnTo>
                  <a:close/>
                </a:path>
              </a:pathLst>
            </a:custGeom>
            <a:solidFill>
              <a:srgbClr val="2FA2CB"/>
            </a:solidFill>
            <a:ln w="19050" cap="sq">
              <a:solidFill>
                <a:srgbClr val="000000"/>
              </a:solidFill>
              <a:prstDash val="solid"/>
              <a:miter/>
            </a:ln>
          </p:spPr>
        </p:sp>
        <p:sp>
          <p:nvSpPr>
            <p:cNvPr name="TextBox 11" id="11"/>
            <p:cNvSpPr txBox="true"/>
            <p:nvPr/>
          </p:nvSpPr>
          <p:spPr>
            <a:xfrm>
              <a:off x="0" y="28575"/>
              <a:ext cx="1232400" cy="1230950"/>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12" id="12"/>
          <p:cNvGrpSpPr/>
          <p:nvPr/>
        </p:nvGrpSpPr>
        <p:grpSpPr>
          <a:xfrm rot="0">
            <a:off x="9793233" y="3494663"/>
            <a:ext cx="5133110" cy="5180710"/>
            <a:chOff x="0" y="0"/>
            <a:chExt cx="1351930" cy="1364467"/>
          </a:xfrm>
        </p:grpSpPr>
        <p:sp>
          <p:nvSpPr>
            <p:cNvPr name="Freeform 13" id="13"/>
            <p:cNvSpPr/>
            <p:nvPr/>
          </p:nvSpPr>
          <p:spPr>
            <a:xfrm flipH="false" flipV="false" rot="0">
              <a:off x="0" y="0"/>
              <a:ext cx="1351930" cy="1364467"/>
            </a:xfrm>
            <a:custGeom>
              <a:avLst/>
              <a:gdLst/>
              <a:ahLst/>
              <a:cxnLst/>
              <a:rect r="r" b="b" t="t" l="l"/>
              <a:pathLst>
                <a:path h="1364467" w="1351930">
                  <a:moveTo>
                    <a:pt x="0" y="0"/>
                  </a:moveTo>
                  <a:lnTo>
                    <a:pt x="1351930" y="0"/>
                  </a:lnTo>
                  <a:lnTo>
                    <a:pt x="1351930" y="1364467"/>
                  </a:lnTo>
                  <a:lnTo>
                    <a:pt x="0" y="1364467"/>
                  </a:lnTo>
                  <a:close/>
                </a:path>
              </a:pathLst>
            </a:custGeom>
            <a:solidFill>
              <a:srgbClr val="253036"/>
            </a:solidFill>
            <a:ln w="19050" cap="sq">
              <a:solidFill>
                <a:srgbClr val="000000"/>
              </a:solidFill>
              <a:prstDash val="solid"/>
              <a:miter/>
            </a:ln>
          </p:spPr>
        </p:sp>
        <p:sp>
          <p:nvSpPr>
            <p:cNvPr name="TextBox 14" id="14"/>
            <p:cNvSpPr txBox="true"/>
            <p:nvPr/>
          </p:nvSpPr>
          <p:spPr>
            <a:xfrm>
              <a:off x="0" y="28575"/>
              <a:ext cx="1351930" cy="1335892"/>
            </a:xfrm>
            <a:prstGeom prst="rect">
              <a:avLst/>
            </a:prstGeom>
          </p:spPr>
          <p:txBody>
            <a:bodyPr anchor="ctr" rtlCol="false" tIns="50800" lIns="50800" bIns="50800" rIns="50800"/>
            <a:lstStyle/>
            <a:p>
              <a:pPr algn="ctr" marL="0" indent="0" lvl="0">
                <a:lnSpc>
                  <a:spcPts val="2640"/>
                </a:lnSpc>
              </a:pPr>
            </a:p>
          </p:txBody>
        </p:sp>
      </p:grpSp>
      <p:grpSp>
        <p:nvGrpSpPr>
          <p:cNvPr name="Group 15" id="15"/>
          <p:cNvGrpSpPr/>
          <p:nvPr/>
        </p:nvGrpSpPr>
        <p:grpSpPr>
          <a:xfrm rot="0">
            <a:off x="10020154" y="3693888"/>
            <a:ext cx="4679270" cy="4782259"/>
            <a:chOff x="0" y="0"/>
            <a:chExt cx="1232400" cy="1259525"/>
          </a:xfrm>
        </p:grpSpPr>
        <p:sp>
          <p:nvSpPr>
            <p:cNvPr name="Freeform 16" id="16"/>
            <p:cNvSpPr/>
            <p:nvPr/>
          </p:nvSpPr>
          <p:spPr>
            <a:xfrm flipH="false" flipV="false" rot="0">
              <a:off x="0" y="0"/>
              <a:ext cx="1232400" cy="1259525"/>
            </a:xfrm>
            <a:custGeom>
              <a:avLst/>
              <a:gdLst/>
              <a:ahLst/>
              <a:cxnLst/>
              <a:rect r="r" b="b" t="t" l="l"/>
              <a:pathLst>
                <a:path h="1259525" w="1232400">
                  <a:moveTo>
                    <a:pt x="0" y="0"/>
                  </a:moveTo>
                  <a:lnTo>
                    <a:pt x="1232400" y="0"/>
                  </a:lnTo>
                  <a:lnTo>
                    <a:pt x="1232400" y="1259525"/>
                  </a:lnTo>
                  <a:lnTo>
                    <a:pt x="0" y="1259525"/>
                  </a:lnTo>
                  <a:close/>
                </a:path>
              </a:pathLst>
            </a:custGeom>
            <a:solidFill>
              <a:srgbClr val="2FA2CB"/>
            </a:solidFill>
            <a:ln w="19050" cap="sq">
              <a:solidFill>
                <a:srgbClr val="000000"/>
              </a:solidFill>
              <a:prstDash val="solid"/>
              <a:miter/>
            </a:ln>
          </p:spPr>
        </p:sp>
        <p:sp>
          <p:nvSpPr>
            <p:cNvPr name="TextBox 17" id="17"/>
            <p:cNvSpPr txBox="true"/>
            <p:nvPr/>
          </p:nvSpPr>
          <p:spPr>
            <a:xfrm>
              <a:off x="0" y="28575"/>
              <a:ext cx="1232400" cy="1230950"/>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8" id="18"/>
          <p:cNvSpPr txBox="true"/>
          <p:nvPr/>
        </p:nvSpPr>
        <p:spPr>
          <a:xfrm rot="0">
            <a:off x="1028700" y="1418835"/>
            <a:ext cx="9146682"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Objetivos del proyecto</a:t>
            </a:r>
          </a:p>
        </p:txBody>
      </p:sp>
      <p:sp>
        <p:nvSpPr>
          <p:cNvPr name="TextBox 19" id="19"/>
          <p:cNvSpPr txBox="true"/>
          <p:nvPr/>
        </p:nvSpPr>
        <p:spPr>
          <a:xfrm rot="0">
            <a:off x="3463329" y="3891312"/>
            <a:ext cx="2720320" cy="371475"/>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Objetivo General</a:t>
            </a:r>
          </a:p>
        </p:txBody>
      </p:sp>
      <p:sp>
        <p:nvSpPr>
          <p:cNvPr name="TextBox 20" id="20"/>
          <p:cNvSpPr txBox="true"/>
          <p:nvPr/>
        </p:nvSpPr>
        <p:spPr>
          <a:xfrm rot="0">
            <a:off x="3293209" y="4509264"/>
            <a:ext cx="4256573" cy="2571750"/>
          </a:xfrm>
          <a:prstGeom prst="rect">
            <a:avLst/>
          </a:prstGeom>
        </p:spPr>
        <p:txBody>
          <a:bodyPr anchor="t" rtlCol="false" tIns="0" lIns="0" bIns="0" rIns="0">
            <a:spAutoFit/>
          </a:bodyPr>
          <a:lstStyle/>
          <a:p>
            <a:pPr algn="l">
              <a:lnSpc>
                <a:spcPts val="2038"/>
              </a:lnSpc>
            </a:pP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Desarrollar e implementar una plataforma web y móvil georreferenciada complementada por Inteligencia Artificial para la exploración, recomendación personalizada y gestión </a:t>
            </a:r>
            <a:r>
              <a:rPr lang="en-US" sz="1699">
                <a:solidFill>
                  <a:srgbClr val="000000"/>
                </a:solidFill>
                <a:latin typeface="Helvetica Now"/>
                <a:ea typeface="Helvetica Now"/>
                <a:cs typeface="Helvetica Now"/>
                <a:sym typeface="Helvetica Now"/>
              </a:rPr>
              <a:t>de eventos sociales y comunitarios.</a:t>
            </a:r>
          </a:p>
          <a:p>
            <a:pPr algn="l">
              <a:lnSpc>
                <a:spcPts val="2038"/>
              </a:lnSpc>
            </a:pPr>
          </a:p>
          <a:p>
            <a:pPr algn="l" marL="0" indent="0" lvl="0">
              <a:lnSpc>
                <a:spcPts val="2038"/>
              </a:lnSpc>
              <a:spcBef>
                <a:spcPct val="0"/>
              </a:spcBef>
            </a:pPr>
          </a:p>
        </p:txBody>
      </p:sp>
      <p:sp>
        <p:nvSpPr>
          <p:cNvPr name="TextBox 21" id="21"/>
          <p:cNvSpPr txBox="true"/>
          <p:nvPr/>
        </p:nvSpPr>
        <p:spPr>
          <a:xfrm rot="0">
            <a:off x="10541713" y="3891312"/>
            <a:ext cx="3158067" cy="371475"/>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Objetivos especificos</a:t>
            </a:r>
          </a:p>
        </p:txBody>
      </p:sp>
      <p:sp>
        <p:nvSpPr>
          <p:cNvPr name="TextBox 22" id="22"/>
          <p:cNvSpPr txBox="true"/>
          <p:nvPr/>
        </p:nvSpPr>
        <p:spPr>
          <a:xfrm rot="0">
            <a:off x="10231502" y="4629150"/>
            <a:ext cx="4256573" cy="4629150"/>
          </a:xfrm>
          <a:prstGeom prst="rect">
            <a:avLst/>
          </a:prstGeom>
        </p:spPr>
        <p:txBody>
          <a:bodyPr anchor="t" rtlCol="false" tIns="0" lIns="0" bIns="0" rIns="0">
            <a:spAutoFit/>
          </a:bodyPr>
          <a:lstStyle/>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Arquitectura Geoespacial:</a:t>
            </a:r>
            <a:r>
              <a:rPr lang="en-US" sz="1699">
                <a:solidFill>
                  <a:srgbClr val="000000"/>
                </a:solidFill>
                <a:latin typeface="Helvetica Now"/>
                <a:ea typeface="Helvetica Now"/>
                <a:cs typeface="Helvetica Now"/>
                <a:sym typeface="Helvetica Now"/>
              </a:rPr>
              <a:t> Implementar un backend distribuido con latencias de respuesta en mapa inferiores a 300 ms.</a:t>
            </a: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Inteligencia artificial:</a:t>
            </a:r>
            <a:r>
              <a:rPr lang="en-US" sz="1699">
                <a:solidFill>
                  <a:srgbClr val="000000"/>
                </a:solidFill>
                <a:latin typeface="Helvetica Now"/>
                <a:ea typeface="Helvetica Now"/>
                <a:cs typeface="Helvetica Now"/>
                <a:sym typeface="Helvetica Now"/>
              </a:rPr>
              <a:t> Integrar un sistema de recomendación personalizada y búsqueda por lenguaje natural, según las preferencias del usuario.</a:t>
            </a: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Módulo transaccional y auditoría:</a:t>
            </a:r>
            <a:r>
              <a:rPr lang="en-US" sz="1699">
                <a:solidFill>
                  <a:srgbClr val="000000"/>
                </a:solidFill>
                <a:latin typeface="Helvetica Now"/>
                <a:ea typeface="Helvetica Now"/>
                <a:cs typeface="Helvetica Now"/>
                <a:sym typeface="Helvetica Now"/>
              </a:rPr>
              <a:t> Integrar pasarela de pago con generación de Códigos Únicos de Compra y panel de verificación en tiempo real.</a:t>
            </a:r>
          </a:p>
          <a:p>
            <a:pPr algn="l">
              <a:lnSpc>
                <a:spcPts val="2038"/>
              </a:lnSpc>
            </a:pPr>
          </a:p>
          <a:p>
            <a:pPr algn="l">
              <a:lnSpc>
                <a:spcPts val="2038"/>
              </a:lnSpc>
            </a:pPr>
          </a:p>
          <a:p>
            <a:pPr algn="l">
              <a:lnSpc>
                <a:spcPts val="2038"/>
              </a:lnSpc>
            </a:pPr>
          </a:p>
          <a:p>
            <a:pPr algn="l" marL="0" indent="0" lvl="0">
              <a:lnSpc>
                <a:spcPts val="2038"/>
              </a:lnSpc>
              <a:spcBef>
                <a:spcPct val="0"/>
              </a:spcBef>
            </a:pPr>
          </a:p>
        </p:txBody>
      </p:sp>
      <p:sp>
        <p:nvSpPr>
          <p:cNvPr name="Freeform 23" id="23"/>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3"/>
            <a:stretch>
              <a:fillRect l="0" t="0" r="0" b="0"/>
            </a:stretch>
          </a:blipFill>
        </p:spPr>
      </p:sp>
      <p:sp>
        <p:nvSpPr>
          <p:cNvPr name="Freeform 24" id="24"/>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4"/>
            <a:stretch>
              <a:fillRect l="0" t="0" r="-22657"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grpSp>
        <p:nvGrpSpPr>
          <p:cNvPr name="Group 6" id="6"/>
          <p:cNvGrpSpPr/>
          <p:nvPr/>
        </p:nvGrpSpPr>
        <p:grpSpPr>
          <a:xfrm rot="0">
            <a:off x="4179912" y="3494663"/>
            <a:ext cx="10761290" cy="5180710"/>
            <a:chOff x="0" y="0"/>
            <a:chExt cx="2834249" cy="1364467"/>
          </a:xfrm>
        </p:grpSpPr>
        <p:sp>
          <p:nvSpPr>
            <p:cNvPr name="Freeform 7" id="7"/>
            <p:cNvSpPr/>
            <p:nvPr/>
          </p:nvSpPr>
          <p:spPr>
            <a:xfrm flipH="false" flipV="false" rot="0">
              <a:off x="0" y="0"/>
              <a:ext cx="2834249" cy="1364467"/>
            </a:xfrm>
            <a:custGeom>
              <a:avLst/>
              <a:gdLst/>
              <a:ahLst/>
              <a:cxnLst/>
              <a:rect r="r" b="b" t="t" l="l"/>
              <a:pathLst>
                <a:path h="1364467" w="2834249">
                  <a:moveTo>
                    <a:pt x="0" y="0"/>
                  </a:moveTo>
                  <a:lnTo>
                    <a:pt x="2834249" y="0"/>
                  </a:lnTo>
                  <a:lnTo>
                    <a:pt x="2834249" y="1364467"/>
                  </a:lnTo>
                  <a:lnTo>
                    <a:pt x="0" y="1364467"/>
                  </a:lnTo>
                  <a:close/>
                </a:path>
              </a:pathLst>
            </a:custGeom>
            <a:solidFill>
              <a:srgbClr val="253036"/>
            </a:solidFill>
            <a:ln w="19050" cap="sq">
              <a:solidFill>
                <a:srgbClr val="000000"/>
              </a:solidFill>
              <a:prstDash val="solid"/>
              <a:miter/>
            </a:ln>
          </p:spPr>
        </p:sp>
        <p:sp>
          <p:nvSpPr>
            <p:cNvPr name="TextBox 8" id="8"/>
            <p:cNvSpPr txBox="true"/>
            <p:nvPr/>
          </p:nvSpPr>
          <p:spPr>
            <a:xfrm>
              <a:off x="0" y="28575"/>
              <a:ext cx="2834249" cy="1335892"/>
            </a:xfrm>
            <a:prstGeom prst="rect">
              <a:avLst/>
            </a:prstGeom>
          </p:spPr>
          <p:txBody>
            <a:bodyPr anchor="ctr" rtlCol="false" tIns="50800" lIns="50800" bIns="50800" rIns="50800"/>
            <a:lstStyle/>
            <a:p>
              <a:pPr algn="ctr" marL="0" indent="0" lvl="0">
                <a:lnSpc>
                  <a:spcPts val="2640"/>
                </a:lnSpc>
              </a:pPr>
            </a:p>
          </p:txBody>
        </p:sp>
      </p:grpSp>
      <p:grpSp>
        <p:nvGrpSpPr>
          <p:cNvPr name="Group 9" id="9"/>
          <p:cNvGrpSpPr/>
          <p:nvPr/>
        </p:nvGrpSpPr>
        <p:grpSpPr>
          <a:xfrm rot="0">
            <a:off x="4470876" y="3693888"/>
            <a:ext cx="10179362" cy="4782259"/>
            <a:chOff x="0" y="0"/>
            <a:chExt cx="2680984" cy="1259525"/>
          </a:xfrm>
        </p:grpSpPr>
        <p:sp>
          <p:nvSpPr>
            <p:cNvPr name="Freeform 10" id="10"/>
            <p:cNvSpPr/>
            <p:nvPr/>
          </p:nvSpPr>
          <p:spPr>
            <a:xfrm flipH="false" flipV="false" rot="0">
              <a:off x="0" y="0"/>
              <a:ext cx="2680984" cy="1259525"/>
            </a:xfrm>
            <a:custGeom>
              <a:avLst/>
              <a:gdLst/>
              <a:ahLst/>
              <a:cxnLst/>
              <a:rect r="r" b="b" t="t" l="l"/>
              <a:pathLst>
                <a:path h="1259525" w="2680984">
                  <a:moveTo>
                    <a:pt x="0" y="0"/>
                  </a:moveTo>
                  <a:lnTo>
                    <a:pt x="2680984" y="0"/>
                  </a:lnTo>
                  <a:lnTo>
                    <a:pt x="2680984" y="1259525"/>
                  </a:lnTo>
                  <a:lnTo>
                    <a:pt x="0" y="1259525"/>
                  </a:lnTo>
                  <a:close/>
                </a:path>
              </a:pathLst>
            </a:custGeom>
            <a:solidFill>
              <a:srgbClr val="2FA2CB"/>
            </a:solidFill>
            <a:ln w="19050" cap="sq">
              <a:solidFill>
                <a:srgbClr val="000000"/>
              </a:solidFill>
              <a:prstDash val="solid"/>
              <a:miter/>
            </a:ln>
          </p:spPr>
        </p:sp>
        <p:sp>
          <p:nvSpPr>
            <p:cNvPr name="TextBox 11" id="11"/>
            <p:cNvSpPr txBox="true"/>
            <p:nvPr/>
          </p:nvSpPr>
          <p:spPr>
            <a:xfrm>
              <a:off x="0" y="28575"/>
              <a:ext cx="2680984" cy="1230950"/>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2" id="12"/>
          <p:cNvSpPr txBox="true"/>
          <p:nvPr/>
        </p:nvSpPr>
        <p:spPr>
          <a:xfrm rot="0">
            <a:off x="1028700" y="1418835"/>
            <a:ext cx="8531857"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Alcances</a:t>
            </a:r>
          </a:p>
        </p:txBody>
      </p:sp>
      <p:sp>
        <p:nvSpPr>
          <p:cNvPr name="TextBox 13" id="13"/>
          <p:cNvSpPr txBox="true"/>
          <p:nvPr/>
        </p:nvSpPr>
        <p:spPr>
          <a:xfrm rot="0">
            <a:off x="4851534" y="3922580"/>
            <a:ext cx="4709023" cy="371475"/>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Alcances del Proyecto</a:t>
            </a:r>
          </a:p>
        </p:txBody>
      </p:sp>
      <p:sp>
        <p:nvSpPr>
          <p:cNvPr name="TextBox 14" id="14"/>
          <p:cNvSpPr txBox="true"/>
          <p:nvPr/>
        </p:nvSpPr>
        <p:spPr>
          <a:xfrm rot="0">
            <a:off x="4558852" y="4509264"/>
            <a:ext cx="10091386" cy="3857625"/>
          </a:xfrm>
          <a:prstGeom prst="rect">
            <a:avLst/>
          </a:prstGeom>
        </p:spPr>
        <p:txBody>
          <a:bodyPr anchor="t" rtlCol="false" tIns="0" lIns="0" bIns="0" rIns="0">
            <a:spAutoFit/>
          </a:bodyPr>
          <a:lstStyle/>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Desarrollo multiplataforma: </a:t>
            </a:r>
            <a:r>
              <a:rPr lang="en-US" sz="1699">
                <a:solidFill>
                  <a:srgbClr val="000000"/>
                </a:solidFill>
                <a:latin typeface="Helvetica Now"/>
                <a:ea typeface="Helvetica Now"/>
                <a:cs typeface="Helvetica Now"/>
                <a:sym typeface="Helvetica Now"/>
              </a:rPr>
              <a:t>Plataforma Web y Aplicación Móvil (Angular para Android) para usuari</a:t>
            </a:r>
            <a:r>
              <a:rPr lang="en-US" sz="1699">
                <a:solidFill>
                  <a:srgbClr val="000000"/>
                </a:solidFill>
                <a:latin typeface="Helvetica Now"/>
                <a:ea typeface="Helvetica Now"/>
                <a:cs typeface="Helvetica Now"/>
                <a:sym typeface="Helvetica Now"/>
              </a:rPr>
              <a:t>os y organizadores.</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Motor geoespacial en tiempo real:</a:t>
            </a:r>
            <a:r>
              <a:rPr lang="en-US" sz="1699">
                <a:solidFill>
                  <a:srgbClr val="000000"/>
                </a:solidFill>
                <a:latin typeface="Helvetica Now"/>
                <a:ea typeface="Helvetica Now"/>
                <a:cs typeface="Helvetica Now"/>
                <a:sym typeface="Helvetica Now"/>
              </a:rPr>
              <a:t> Mapa interactivo para filtrar eventos por radio de distancia y coordenadas.</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Módulo de IA Integrado: </a:t>
            </a:r>
            <a:r>
              <a:rPr lang="en-US" sz="1699">
                <a:solidFill>
                  <a:srgbClr val="000000"/>
                </a:solidFill>
                <a:latin typeface="Helvetica Now"/>
                <a:ea typeface="Helvetica Now"/>
                <a:cs typeface="Helvetica Now"/>
                <a:sym typeface="Helvetica Now"/>
              </a:rPr>
              <a:t>Algoritmo de recomendación y búsqueda mediante procesamiento de lenguaje natural según preferencias del usuario.</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Pasarela de pagos y código único: </a:t>
            </a:r>
            <a:r>
              <a:rPr lang="en-US" sz="1699">
                <a:solidFill>
                  <a:srgbClr val="000000"/>
                </a:solidFill>
                <a:latin typeface="Helvetica Now"/>
                <a:ea typeface="Helvetica Now"/>
                <a:cs typeface="Helvetica Now"/>
                <a:sym typeface="Helvetica Now"/>
              </a:rPr>
              <a:t>Integración de transacciones (Webpay Plus/Mercado Pago) con generación de Códigos Únicos de Compra (Alfanuméricos). </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Panel de auditoría:</a:t>
            </a:r>
            <a:r>
              <a:rPr lang="en-US" sz="1699">
                <a:solidFill>
                  <a:srgbClr val="000000"/>
                </a:solidFill>
                <a:latin typeface="Helvetica Now"/>
                <a:ea typeface="Helvetica Now"/>
                <a:cs typeface="Helvetica Now"/>
                <a:sym typeface="Helvetica Now"/>
              </a:rPr>
              <a:t> Dashboard web para que el organizador controle el stock de venta y verifique la asistencia en tiempo real. </a:t>
            </a:r>
          </a:p>
          <a:p>
            <a:pPr algn="l">
              <a:lnSpc>
                <a:spcPts val="2038"/>
              </a:lnSpc>
              <a:spcBef>
                <a:spcPct val="0"/>
              </a:spcBef>
            </a:pPr>
          </a:p>
        </p:txBody>
      </p:sp>
      <p:sp>
        <p:nvSpPr>
          <p:cNvPr name="Freeform 15" id="15"/>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3"/>
            <a:stretch>
              <a:fillRect l="0" t="0" r="0" b="0"/>
            </a:stretch>
          </a:blipFill>
        </p:spPr>
      </p:sp>
      <p:sp>
        <p:nvSpPr>
          <p:cNvPr name="Freeform 16" id="16"/>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4"/>
            <a:stretch>
              <a:fillRect l="0" t="0" r="-22657"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grpSp>
        <p:nvGrpSpPr>
          <p:cNvPr name="Group 6" id="6"/>
          <p:cNvGrpSpPr/>
          <p:nvPr/>
        </p:nvGrpSpPr>
        <p:grpSpPr>
          <a:xfrm rot="0">
            <a:off x="4179912" y="3494663"/>
            <a:ext cx="10761290" cy="5180710"/>
            <a:chOff x="0" y="0"/>
            <a:chExt cx="2834249" cy="1364467"/>
          </a:xfrm>
        </p:grpSpPr>
        <p:sp>
          <p:nvSpPr>
            <p:cNvPr name="Freeform 7" id="7"/>
            <p:cNvSpPr/>
            <p:nvPr/>
          </p:nvSpPr>
          <p:spPr>
            <a:xfrm flipH="false" flipV="false" rot="0">
              <a:off x="0" y="0"/>
              <a:ext cx="2834249" cy="1364467"/>
            </a:xfrm>
            <a:custGeom>
              <a:avLst/>
              <a:gdLst/>
              <a:ahLst/>
              <a:cxnLst/>
              <a:rect r="r" b="b" t="t" l="l"/>
              <a:pathLst>
                <a:path h="1364467" w="2834249">
                  <a:moveTo>
                    <a:pt x="0" y="0"/>
                  </a:moveTo>
                  <a:lnTo>
                    <a:pt x="2834249" y="0"/>
                  </a:lnTo>
                  <a:lnTo>
                    <a:pt x="2834249" y="1364467"/>
                  </a:lnTo>
                  <a:lnTo>
                    <a:pt x="0" y="1364467"/>
                  </a:lnTo>
                  <a:close/>
                </a:path>
              </a:pathLst>
            </a:custGeom>
            <a:solidFill>
              <a:srgbClr val="253036"/>
            </a:solidFill>
            <a:ln w="19050" cap="sq">
              <a:solidFill>
                <a:srgbClr val="000000"/>
              </a:solidFill>
              <a:prstDash val="solid"/>
              <a:miter/>
            </a:ln>
          </p:spPr>
        </p:sp>
        <p:sp>
          <p:nvSpPr>
            <p:cNvPr name="TextBox 8" id="8"/>
            <p:cNvSpPr txBox="true"/>
            <p:nvPr/>
          </p:nvSpPr>
          <p:spPr>
            <a:xfrm>
              <a:off x="0" y="28575"/>
              <a:ext cx="2834249" cy="1335892"/>
            </a:xfrm>
            <a:prstGeom prst="rect">
              <a:avLst/>
            </a:prstGeom>
          </p:spPr>
          <p:txBody>
            <a:bodyPr anchor="ctr" rtlCol="false" tIns="50800" lIns="50800" bIns="50800" rIns="50800"/>
            <a:lstStyle/>
            <a:p>
              <a:pPr algn="ctr" marL="0" indent="0" lvl="0">
                <a:lnSpc>
                  <a:spcPts val="2640"/>
                </a:lnSpc>
              </a:pPr>
            </a:p>
          </p:txBody>
        </p:sp>
      </p:grpSp>
      <p:grpSp>
        <p:nvGrpSpPr>
          <p:cNvPr name="Group 9" id="9"/>
          <p:cNvGrpSpPr/>
          <p:nvPr/>
        </p:nvGrpSpPr>
        <p:grpSpPr>
          <a:xfrm rot="0">
            <a:off x="4470876" y="3693888"/>
            <a:ext cx="10179362" cy="4782259"/>
            <a:chOff x="0" y="0"/>
            <a:chExt cx="2680984" cy="1259525"/>
          </a:xfrm>
        </p:grpSpPr>
        <p:sp>
          <p:nvSpPr>
            <p:cNvPr name="Freeform 10" id="10"/>
            <p:cNvSpPr/>
            <p:nvPr/>
          </p:nvSpPr>
          <p:spPr>
            <a:xfrm flipH="false" flipV="false" rot="0">
              <a:off x="0" y="0"/>
              <a:ext cx="2680984" cy="1259525"/>
            </a:xfrm>
            <a:custGeom>
              <a:avLst/>
              <a:gdLst/>
              <a:ahLst/>
              <a:cxnLst/>
              <a:rect r="r" b="b" t="t" l="l"/>
              <a:pathLst>
                <a:path h="1259525" w="2680984">
                  <a:moveTo>
                    <a:pt x="0" y="0"/>
                  </a:moveTo>
                  <a:lnTo>
                    <a:pt x="2680984" y="0"/>
                  </a:lnTo>
                  <a:lnTo>
                    <a:pt x="2680984" y="1259525"/>
                  </a:lnTo>
                  <a:lnTo>
                    <a:pt x="0" y="1259525"/>
                  </a:lnTo>
                  <a:close/>
                </a:path>
              </a:pathLst>
            </a:custGeom>
            <a:solidFill>
              <a:srgbClr val="2FA2CB"/>
            </a:solidFill>
            <a:ln w="19050" cap="sq">
              <a:solidFill>
                <a:srgbClr val="000000"/>
              </a:solidFill>
              <a:prstDash val="solid"/>
              <a:miter/>
            </a:ln>
          </p:spPr>
        </p:sp>
        <p:sp>
          <p:nvSpPr>
            <p:cNvPr name="TextBox 11" id="11"/>
            <p:cNvSpPr txBox="true"/>
            <p:nvPr/>
          </p:nvSpPr>
          <p:spPr>
            <a:xfrm>
              <a:off x="0" y="28575"/>
              <a:ext cx="2680984" cy="1230950"/>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2" id="12"/>
          <p:cNvSpPr txBox="true"/>
          <p:nvPr/>
        </p:nvSpPr>
        <p:spPr>
          <a:xfrm rot="0">
            <a:off x="1028700" y="1418835"/>
            <a:ext cx="8531857"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Limitaciones</a:t>
            </a:r>
          </a:p>
        </p:txBody>
      </p:sp>
      <p:sp>
        <p:nvSpPr>
          <p:cNvPr name="TextBox 13" id="13"/>
          <p:cNvSpPr txBox="true"/>
          <p:nvPr/>
        </p:nvSpPr>
        <p:spPr>
          <a:xfrm rot="0">
            <a:off x="4851534" y="3922580"/>
            <a:ext cx="4709023" cy="371475"/>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Limitaciones del proyecto</a:t>
            </a:r>
          </a:p>
        </p:txBody>
      </p:sp>
      <p:sp>
        <p:nvSpPr>
          <p:cNvPr name="TextBox 14" id="14"/>
          <p:cNvSpPr txBox="true"/>
          <p:nvPr/>
        </p:nvSpPr>
        <p:spPr>
          <a:xfrm rot="0">
            <a:off x="4558852" y="4509264"/>
            <a:ext cx="10091386" cy="3086100"/>
          </a:xfrm>
          <a:prstGeom prst="rect">
            <a:avLst/>
          </a:prstGeom>
        </p:spPr>
        <p:txBody>
          <a:bodyPr anchor="t" rtlCol="false" tIns="0" lIns="0" bIns="0" rIns="0">
            <a:spAutoFit/>
          </a:bodyPr>
          <a:lstStyle/>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Sin formulario de reserva para eventos grati</a:t>
            </a:r>
            <a:r>
              <a:rPr lang="en-US" b="true" sz="1699">
                <a:solidFill>
                  <a:srgbClr val="000000"/>
                </a:solidFill>
                <a:latin typeface="Helvetica Now Bold"/>
                <a:ea typeface="Helvetica Now Bold"/>
                <a:cs typeface="Helvetica Now Bold"/>
                <a:sym typeface="Helvetica Now Bold"/>
              </a:rPr>
              <a:t>s:</a:t>
            </a:r>
            <a:r>
              <a:rPr lang="en-US" sz="1699">
                <a:solidFill>
                  <a:srgbClr val="000000"/>
                </a:solidFill>
                <a:latin typeface="Helvetica Now"/>
                <a:ea typeface="Helvetica Now"/>
                <a:cs typeface="Helvetica Now"/>
                <a:sym typeface="Helvetica Now"/>
              </a:rPr>
              <a:t> Por regla de negocio, los eventos de costo $0 no emiten tickets ni reservas para evitar "entradas fantasma". </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Alcance geográfico y financiero:</a:t>
            </a:r>
            <a:r>
              <a:rPr lang="en-US" sz="1699">
                <a:solidFill>
                  <a:srgbClr val="000000"/>
                </a:solidFill>
                <a:latin typeface="Helvetica Now"/>
                <a:ea typeface="Helvetica Now"/>
                <a:cs typeface="Helvetica Now"/>
                <a:sym typeface="Helvetica Now"/>
              </a:rPr>
              <a:t> Plataforma acotada a eventos y pasarelas de pago dentro del territorio chileno. </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Sin Integración de Hardware Físico:</a:t>
            </a:r>
            <a:r>
              <a:rPr lang="en-US" sz="1699">
                <a:solidFill>
                  <a:srgbClr val="000000"/>
                </a:solidFill>
                <a:latin typeface="Helvetica Now"/>
                <a:ea typeface="Helvetica Now"/>
                <a:cs typeface="Helvetica Now"/>
                <a:sym typeface="Helvetica Now"/>
              </a:rPr>
              <a:t> La validación de entradas se realiza vía software (panel web/móvil), sin torniquetes ni lectores físicos dedicados.</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Almacenamiento bancario:</a:t>
            </a:r>
            <a:r>
              <a:rPr lang="en-US" sz="1699">
                <a:solidFill>
                  <a:srgbClr val="000000"/>
                </a:solidFill>
                <a:latin typeface="Helvetica Now"/>
                <a:ea typeface="Helvetica Now"/>
                <a:cs typeface="Helvetica Now"/>
                <a:sym typeface="Helvetica Now"/>
              </a:rPr>
              <a:t> La plataforma no almacena datos de tarjetas ni cuentas; la seguridad transaccional recae 100% en la pasarela externa.</a:t>
            </a:r>
          </a:p>
          <a:p>
            <a:pPr algn="l">
              <a:lnSpc>
                <a:spcPts val="2038"/>
              </a:lnSpc>
              <a:spcBef>
                <a:spcPct val="0"/>
              </a:spcBef>
            </a:pPr>
          </a:p>
        </p:txBody>
      </p:sp>
      <p:sp>
        <p:nvSpPr>
          <p:cNvPr name="Freeform 15" id="15"/>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3"/>
            <a:stretch>
              <a:fillRect l="0" t="0" r="0" b="0"/>
            </a:stretch>
          </a:blipFill>
        </p:spPr>
      </p:sp>
      <p:sp>
        <p:nvSpPr>
          <p:cNvPr name="Freeform 16" id="16"/>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4"/>
            <a:stretch>
              <a:fillRect l="0" t="0" r="-22657"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sp>
        <p:nvSpPr>
          <p:cNvPr name="TextBox 6" id="6"/>
          <p:cNvSpPr txBox="true"/>
          <p:nvPr/>
        </p:nvSpPr>
        <p:spPr>
          <a:xfrm rot="0">
            <a:off x="1028700" y="1418835"/>
            <a:ext cx="9491584"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Metodologia de trabajo</a:t>
            </a:r>
          </a:p>
        </p:txBody>
      </p:sp>
      <p:grpSp>
        <p:nvGrpSpPr>
          <p:cNvPr name="Group 7" id="7"/>
          <p:cNvGrpSpPr/>
          <p:nvPr/>
        </p:nvGrpSpPr>
        <p:grpSpPr>
          <a:xfrm rot="0">
            <a:off x="2675988" y="2606546"/>
            <a:ext cx="12936025" cy="5403813"/>
            <a:chOff x="0" y="0"/>
            <a:chExt cx="3478735" cy="1453185"/>
          </a:xfrm>
        </p:grpSpPr>
        <p:sp>
          <p:nvSpPr>
            <p:cNvPr name="Freeform 8" id="8"/>
            <p:cNvSpPr/>
            <p:nvPr/>
          </p:nvSpPr>
          <p:spPr>
            <a:xfrm flipH="false" flipV="false" rot="0">
              <a:off x="0" y="0"/>
              <a:ext cx="3478735" cy="1453185"/>
            </a:xfrm>
            <a:custGeom>
              <a:avLst/>
              <a:gdLst/>
              <a:ahLst/>
              <a:cxnLst/>
              <a:rect r="r" b="b" t="t" l="l"/>
              <a:pathLst>
                <a:path h="1453185" w="3478735">
                  <a:moveTo>
                    <a:pt x="0" y="0"/>
                  </a:moveTo>
                  <a:lnTo>
                    <a:pt x="3478735" y="0"/>
                  </a:lnTo>
                  <a:lnTo>
                    <a:pt x="3478735" y="1453185"/>
                  </a:lnTo>
                  <a:lnTo>
                    <a:pt x="0" y="1453185"/>
                  </a:lnTo>
                  <a:close/>
                </a:path>
              </a:pathLst>
            </a:custGeom>
            <a:solidFill>
              <a:srgbClr val="253036"/>
            </a:solidFill>
            <a:ln w="19050" cap="sq">
              <a:solidFill>
                <a:srgbClr val="000000"/>
              </a:solidFill>
              <a:prstDash val="solid"/>
              <a:miter/>
            </a:ln>
          </p:spPr>
        </p:sp>
        <p:sp>
          <p:nvSpPr>
            <p:cNvPr name="TextBox 9" id="9"/>
            <p:cNvSpPr txBox="true"/>
            <p:nvPr/>
          </p:nvSpPr>
          <p:spPr>
            <a:xfrm>
              <a:off x="0" y="28575"/>
              <a:ext cx="3478735" cy="1424610"/>
            </a:xfrm>
            <a:prstGeom prst="rect">
              <a:avLst/>
            </a:prstGeom>
          </p:spPr>
          <p:txBody>
            <a:bodyPr anchor="ctr" rtlCol="false" tIns="50800" lIns="50800" bIns="50800" rIns="50800"/>
            <a:lstStyle/>
            <a:p>
              <a:pPr algn="ctr" marL="0" indent="0" lvl="0">
                <a:lnSpc>
                  <a:spcPts val="2640"/>
                </a:lnSpc>
              </a:pPr>
            </a:p>
          </p:txBody>
        </p:sp>
      </p:grpSp>
      <p:grpSp>
        <p:nvGrpSpPr>
          <p:cNvPr name="Group 10" id="10"/>
          <p:cNvGrpSpPr/>
          <p:nvPr/>
        </p:nvGrpSpPr>
        <p:grpSpPr>
          <a:xfrm rot="0">
            <a:off x="2960953" y="2801665"/>
            <a:ext cx="12338835" cy="5013576"/>
            <a:chOff x="0" y="0"/>
            <a:chExt cx="3318139" cy="1348243"/>
          </a:xfrm>
        </p:grpSpPr>
        <p:sp>
          <p:nvSpPr>
            <p:cNvPr name="Freeform 11" id="11"/>
            <p:cNvSpPr/>
            <p:nvPr/>
          </p:nvSpPr>
          <p:spPr>
            <a:xfrm flipH="false" flipV="false" rot="0">
              <a:off x="0" y="0"/>
              <a:ext cx="3318139" cy="1348243"/>
            </a:xfrm>
            <a:custGeom>
              <a:avLst/>
              <a:gdLst/>
              <a:ahLst/>
              <a:cxnLst/>
              <a:rect r="r" b="b" t="t" l="l"/>
              <a:pathLst>
                <a:path h="1348243" w="3318139">
                  <a:moveTo>
                    <a:pt x="0" y="0"/>
                  </a:moveTo>
                  <a:lnTo>
                    <a:pt x="3318139" y="0"/>
                  </a:lnTo>
                  <a:lnTo>
                    <a:pt x="3318139" y="1348243"/>
                  </a:lnTo>
                  <a:lnTo>
                    <a:pt x="0" y="1348243"/>
                  </a:lnTo>
                  <a:close/>
                </a:path>
              </a:pathLst>
            </a:custGeom>
            <a:solidFill>
              <a:srgbClr val="2FA2CB"/>
            </a:solidFill>
            <a:ln w="19050" cap="sq">
              <a:solidFill>
                <a:srgbClr val="000000"/>
              </a:solidFill>
              <a:prstDash val="solid"/>
              <a:miter/>
            </a:ln>
          </p:spPr>
        </p:sp>
        <p:sp>
          <p:nvSpPr>
            <p:cNvPr name="TextBox 12" id="12"/>
            <p:cNvSpPr txBox="true"/>
            <p:nvPr/>
          </p:nvSpPr>
          <p:spPr>
            <a:xfrm>
              <a:off x="0" y="28575"/>
              <a:ext cx="3318139" cy="1319668"/>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3" id="13"/>
          <p:cNvSpPr txBox="true"/>
          <p:nvPr/>
        </p:nvSpPr>
        <p:spPr>
          <a:xfrm rot="0">
            <a:off x="3333764" y="3025642"/>
            <a:ext cx="4611944" cy="363817"/>
          </a:xfrm>
          <a:prstGeom prst="rect">
            <a:avLst/>
          </a:prstGeom>
        </p:spPr>
        <p:txBody>
          <a:bodyPr anchor="t" rtlCol="false" tIns="0" lIns="0" bIns="0" rIns="0">
            <a:spAutoFit/>
          </a:bodyPr>
          <a:lstStyle/>
          <a:p>
            <a:pPr algn="l" marL="0" indent="0" lvl="0">
              <a:lnSpc>
                <a:spcPts val="2875"/>
              </a:lnSpc>
            </a:pPr>
            <a:r>
              <a:rPr lang="en-US" b="true" sz="2396">
                <a:solidFill>
                  <a:srgbClr val="000000"/>
                </a:solidFill>
                <a:latin typeface="Helvetica Now Bold"/>
                <a:ea typeface="Helvetica Now Bold"/>
                <a:cs typeface="Helvetica Now Bold"/>
                <a:sym typeface="Helvetica Now Bold"/>
              </a:rPr>
              <a:t>Marco ágil  (Scrum Adaptado)</a:t>
            </a:r>
          </a:p>
        </p:txBody>
      </p:sp>
      <p:sp>
        <p:nvSpPr>
          <p:cNvPr name="TextBox 14" id="14"/>
          <p:cNvSpPr txBox="true"/>
          <p:nvPr/>
        </p:nvSpPr>
        <p:spPr>
          <a:xfrm rot="0">
            <a:off x="3047115" y="3600231"/>
            <a:ext cx="12117711" cy="4705350"/>
          </a:xfrm>
          <a:prstGeom prst="rect">
            <a:avLst/>
          </a:prstGeom>
        </p:spPr>
        <p:txBody>
          <a:bodyPr anchor="t" rtlCol="false" tIns="0" lIns="0" bIns="0" rIns="0">
            <a:spAutoFit/>
          </a:bodyPr>
          <a:lstStyle/>
          <a:p>
            <a:pPr algn="l" marL="359266" indent="-179633" lvl="1">
              <a:lnSpc>
                <a:spcPts val="1996"/>
              </a:lnSpc>
              <a:buFont typeface="Arial"/>
              <a:buChar char="•"/>
            </a:pPr>
            <a:r>
              <a:rPr lang="en-US" sz="1664">
                <a:solidFill>
                  <a:srgbClr val="000000"/>
                </a:solidFill>
                <a:latin typeface="Helvetica Now"/>
                <a:ea typeface="Helvetica Now"/>
                <a:cs typeface="Helvetica Now"/>
                <a:sym typeface="Helvetica Now"/>
              </a:rPr>
              <a:t>Ciclos de desarrrollo cortos (sprints de 3 semanas) para iterar rapidamente en las funcionalidades claves de </a:t>
            </a:r>
            <a:r>
              <a:rPr lang="en-US" b="true" sz="1664">
                <a:solidFill>
                  <a:srgbClr val="000000"/>
                </a:solidFill>
                <a:latin typeface="Helvetica Now Bold"/>
                <a:ea typeface="Helvetica Now Bold"/>
                <a:cs typeface="Helvetica Now Bold"/>
                <a:sym typeface="Helvetica Now Bold"/>
              </a:rPr>
              <a:t>UBIK</a:t>
            </a:r>
            <a:r>
              <a:rPr lang="en-US" sz="1664">
                <a:solidFill>
                  <a:srgbClr val="000000"/>
                </a:solidFill>
                <a:latin typeface="Helvetica Now"/>
                <a:ea typeface="Helvetica Now"/>
                <a:cs typeface="Helvetica Now"/>
                <a:sym typeface="Helvetica Now"/>
              </a:rPr>
              <a:t> y recibir retroalimentación constante.</a:t>
            </a:r>
          </a:p>
          <a:p>
            <a:pPr algn="l">
              <a:lnSpc>
                <a:spcPts val="1996"/>
              </a:lnSpc>
            </a:pPr>
          </a:p>
          <a:p>
            <a:pPr algn="l" marL="359266" indent="-179633" lvl="1">
              <a:lnSpc>
                <a:spcPts val="1996"/>
              </a:lnSpc>
              <a:buFont typeface="Arial"/>
              <a:buChar char="•"/>
            </a:pPr>
            <a:r>
              <a:rPr lang="en-US" b="true" sz="1664">
                <a:solidFill>
                  <a:srgbClr val="000000"/>
                </a:solidFill>
                <a:latin typeface="Helvetica Now Bold"/>
                <a:ea typeface="Helvetica Now Bold"/>
                <a:cs typeface="Helvetica Now Bold"/>
                <a:sym typeface="Helvetica Now Bold"/>
              </a:rPr>
              <a:t>Gestión visual (Kanban): </a:t>
            </a:r>
            <a:r>
              <a:rPr lang="en-US" sz="1664">
                <a:solidFill>
                  <a:srgbClr val="000000"/>
                </a:solidFill>
                <a:latin typeface="Helvetica Now"/>
                <a:ea typeface="Helvetica Now"/>
                <a:cs typeface="Helvetica Now"/>
                <a:sym typeface="Helvetica Now"/>
              </a:rPr>
              <a:t>Control de flujo de tareas en tiempo real mediante trello/ Github Projects(Backlog, en progreso, QA/Pruebas, Completado)</a:t>
            </a:r>
          </a:p>
          <a:p>
            <a:pPr algn="l">
              <a:lnSpc>
                <a:spcPts val="1996"/>
              </a:lnSpc>
            </a:pPr>
          </a:p>
          <a:p>
            <a:pPr algn="l" marL="359266" indent="-179633" lvl="1">
              <a:lnSpc>
                <a:spcPts val="1996"/>
              </a:lnSpc>
              <a:buFont typeface="Arial"/>
              <a:buChar char="•"/>
            </a:pPr>
            <a:r>
              <a:rPr lang="en-US" b="true" sz="1664">
                <a:solidFill>
                  <a:srgbClr val="000000"/>
                </a:solidFill>
                <a:latin typeface="Helvetica Now Bold"/>
                <a:ea typeface="Helvetica Now Bold"/>
                <a:cs typeface="Helvetica Now Bold"/>
                <a:sym typeface="Helvetica Now Bold"/>
              </a:rPr>
              <a:t>División de roles y responsaiblidades:</a:t>
            </a:r>
          </a:p>
          <a:p>
            <a:pPr algn="l">
              <a:lnSpc>
                <a:spcPts val="1996"/>
              </a:lnSpc>
            </a:pPr>
          </a:p>
          <a:p>
            <a:pPr algn="l" marL="718532" indent="-239511" lvl="2">
              <a:lnSpc>
                <a:spcPts val="1996"/>
              </a:lnSpc>
              <a:buFont typeface="Arial"/>
              <a:buChar char="⚬"/>
            </a:pPr>
            <a:r>
              <a:rPr lang="en-US" sz="1664">
                <a:solidFill>
                  <a:srgbClr val="000000"/>
                </a:solidFill>
                <a:latin typeface="Helvetica Now"/>
                <a:ea typeface="Helvetica Now"/>
                <a:cs typeface="Helvetica Now"/>
                <a:sym typeface="Helvetica Now"/>
              </a:rPr>
              <a:t>Benjamín Montero (lider full.stack y seguridad transaccional): Módulo de pagos, generación de códigos únicos de compra, seguridad y desarrollo web (React/Next.js).</a:t>
            </a:r>
          </a:p>
          <a:p>
            <a:pPr algn="l">
              <a:lnSpc>
                <a:spcPts val="1996"/>
              </a:lnSpc>
            </a:pPr>
          </a:p>
          <a:p>
            <a:pPr algn="l" marL="718532" indent="-239511" lvl="2">
              <a:lnSpc>
                <a:spcPts val="1996"/>
              </a:lnSpc>
              <a:buFont typeface="Arial"/>
              <a:buChar char="⚬"/>
            </a:pPr>
            <a:r>
              <a:rPr lang="en-US" sz="1664">
                <a:solidFill>
                  <a:srgbClr val="000000"/>
                </a:solidFill>
                <a:latin typeface="Helvetica Now"/>
                <a:ea typeface="Helvetica Now"/>
                <a:cs typeface="Helvetica Now"/>
                <a:sym typeface="Helvetica Now"/>
              </a:rPr>
              <a:t>Matías Marín (lider full-stack y arquitectura geospacial): API REST en NestJS, base de datos, mapa interactivo y motor de recomendación con IA.</a:t>
            </a:r>
          </a:p>
          <a:p>
            <a:pPr algn="l">
              <a:lnSpc>
                <a:spcPts val="1996"/>
              </a:lnSpc>
            </a:pPr>
          </a:p>
          <a:p>
            <a:pPr algn="l" marL="359266" indent="-179633" lvl="1">
              <a:lnSpc>
                <a:spcPts val="1996"/>
              </a:lnSpc>
              <a:buFont typeface="Arial"/>
              <a:buChar char="•"/>
            </a:pPr>
            <a:r>
              <a:rPr lang="en-US" sz="1664">
                <a:solidFill>
                  <a:srgbClr val="000000"/>
                </a:solidFill>
                <a:latin typeface="Helvetica Now"/>
                <a:ea typeface="Helvetica Now"/>
                <a:cs typeface="Helvetica Now"/>
                <a:sym typeface="Helvetica Now"/>
              </a:rPr>
              <a:t>Control de versiones: Git + Github bajo flujo de trabajo GitFlow (Ramas: main, develop, feature/*)</a:t>
            </a:r>
          </a:p>
          <a:p>
            <a:pPr algn="l">
              <a:lnSpc>
                <a:spcPts val="1996"/>
              </a:lnSpc>
            </a:pPr>
          </a:p>
          <a:p>
            <a:pPr algn="l">
              <a:lnSpc>
                <a:spcPts val="1996"/>
              </a:lnSpc>
            </a:pPr>
          </a:p>
          <a:p>
            <a:pPr algn="l">
              <a:lnSpc>
                <a:spcPts val="1996"/>
              </a:lnSpc>
            </a:pPr>
          </a:p>
          <a:p>
            <a:pPr algn="l">
              <a:lnSpc>
                <a:spcPts val="1996"/>
              </a:lnSpc>
            </a:pPr>
          </a:p>
        </p:txBody>
      </p:sp>
      <p:sp>
        <p:nvSpPr>
          <p:cNvPr name="Freeform 15" id="15"/>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3"/>
            <a:stretch>
              <a:fillRect l="0" t="0" r="0" b="0"/>
            </a:stretch>
          </a:blipFill>
        </p:spPr>
      </p:sp>
      <p:sp>
        <p:nvSpPr>
          <p:cNvPr name="Freeform 16" id="16"/>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4"/>
            <a:stretch>
              <a:fillRect l="0" t="0" r="-22657"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graphicFrame>
        <p:nvGraphicFramePr>
          <p:cNvPr name="Table 6" id="6"/>
          <p:cNvGraphicFramePr>
            <a:graphicFrameLocks noGrp="true"/>
          </p:cNvGraphicFramePr>
          <p:nvPr/>
        </p:nvGraphicFramePr>
        <p:xfrm>
          <a:off x="3836869" y="2328733"/>
          <a:ext cx="10134398" cy="6052571"/>
        </p:xfrm>
        <a:graphic>
          <a:graphicData uri="http://schemas.openxmlformats.org/drawingml/2006/table">
            <a:tbl>
              <a:tblPr/>
              <a:tblGrid>
                <a:gridCol w="2434854"/>
                <a:gridCol w="2434854"/>
                <a:gridCol w="5264690"/>
              </a:tblGrid>
              <a:tr h="876488">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Sprint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3E77F4"/>
                    </a:solidFill>
                  </a:tcPr>
                </a:tc>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Duración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3E77F4"/>
                    </a:solidFill>
                  </a:tcPr>
                </a:tc>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Funcionalidades y Entregables Clave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3E77F4"/>
                    </a:solidFill>
                  </a:tcPr>
                </a:tc>
              </a:tr>
              <a:tr h="1294021">
                <a:tc>
                  <a:txBody>
                    <a:bodyPr anchor="t" rtlCol="false"/>
                    <a:lstStyle/>
                    <a:p>
                      <a:pPr algn="l">
                        <a:lnSpc>
                          <a:spcPts val="2239"/>
                        </a:lnSpc>
                        <a:defRPr/>
                      </a:pPr>
                      <a:r>
                        <a:rPr lang="en-US" sz="1599">
                          <a:solidFill>
                            <a:srgbClr val="000000"/>
                          </a:solidFill>
                          <a:latin typeface="Canva Sans"/>
                          <a:ea typeface="Canva Sans"/>
                          <a:cs typeface="Canva Sans"/>
                          <a:sym typeface="Canva Sans"/>
                        </a:rPr>
                        <a:t>Sprint 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9ACFF"/>
                    </a:solidFill>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S</a:t>
                      </a:r>
                      <a:r>
                        <a:rPr lang="en-US" sz="1599">
                          <a:solidFill>
                            <a:srgbClr val="000000"/>
                          </a:solidFill>
                          <a:latin typeface="Canva Sans"/>
                          <a:ea typeface="Canva Sans"/>
                          <a:cs typeface="Canva Sans"/>
                          <a:sym typeface="Canva Sans"/>
                        </a:rPr>
                        <a:t>emana 1 - 3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Configuración de entornos, esquema PostgreSQL + PostGIS, API REST base en NestJS y autenticación.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94021">
                <a:tc>
                  <a:txBody>
                    <a:bodyPr anchor="t" rtlCol="false"/>
                    <a:lstStyle/>
                    <a:p>
                      <a:pPr algn="l">
                        <a:lnSpc>
                          <a:spcPts val="2239"/>
                        </a:lnSpc>
                        <a:defRPr/>
                      </a:pPr>
                      <a:r>
                        <a:rPr lang="en-US" sz="1599">
                          <a:solidFill>
                            <a:srgbClr val="000000"/>
                          </a:solidFill>
                          <a:latin typeface="Canva Sans"/>
                          <a:ea typeface="Canva Sans"/>
                          <a:cs typeface="Canva Sans"/>
                          <a:sym typeface="Canva Sans"/>
                        </a:rPr>
                        <a:t>Sprint 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9ACFF"/>
                    </a:solidFill>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Semana 4 - 6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Desarrollo del mapa interactivo con centrado GPS, filtros por radio de distancia y ficha publicitaria para eventos gratis.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94021">
                <a:tc>
                  <a:txBody>
                    <a:bodyPr anchor="t" rtlCol="false"/>
                    <a:lstStyle/>
                    <a:p>
                      <a:pPr algn="l">
                        <a:lnSpc>
                          <a:spcPts val="2239"/>
                        </a:lnSpc>
                        <a:defRPr/>
                      </a:pPr>
                      <a:r>
                        <a:rPr lang="en-US" sz="1599">
                          <a:solidFill>
                            <a:srgbClr val="000000"/>
                          </a:solidFill>
                          <a:latin typeface="Canva Sans"/>
                          <a:ea typeface="Canva Sans"/>
                          <a:cs typeface="Canva Sans"/>
                          <a:sym typeface="Canva Sans"/>
                        </a:rPr>
                        <a:t>Sprint 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9ACFF"/>
                    </a:solidFill>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Semana 7 - 9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Integración de pasarela de pago, generación del Código Único de Compra y motor de recomendación IA.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94021">
                <a:tc>
                  <a:txBody>
                    <a:bodyPr anchor="t" rtlCol="false"/>
                    <a:lstStyle/>
                    <a:p>
                      <a:pPr algn="l">
                        <a:lnSpc>
                          <a:spcPts val="2239"/>
                        </a:lnSpc>
                        <a:defRPr/>
                      </a:pPr>
                      <a:r>
                        <a:rPr lang="en-US" sz="1599">
                          <a:solidFill>
                            <a:srgbClr val="000000"/>
                          </a:solidFill>
                          <a:latin typeface="Canva Sans"/>
                          <a:ea typeface="Canva Sans"/>
                          <a:cs typeface="Canva Sans"/>
                          <a:sym typeface="Canva Sans"/>
                        </a:rPr>
                        <a:t>Sprint 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9ACFF"/>
                    </a:solidFill>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Semana 10 - 12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Panel de auditoría para organizadores, pruebas de latencia (&lt;300 ms), optimización general y despliegue final.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028700" y="1085850"/>
            <a:ext cx="8531857"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Cronograma </a:t>
            </a:r>
          </a:p>
        </p:txBody>
      </p:sp>
      <p:sp>
        <p:nvSpPr>
          <p:cNvPr name="Freeform 8" id="8"/>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3"/>
            <a:stretch>
              <a:fillRect l="0" t="0" r="0" b="0"/>
            </a:stretch>
          </a:blipFill>
        </p:spPr>
      </p:sp>
      <p:sp>
        <p:nvSpPr>
          <p:cNvPr name="Freeform 9" id="9"/>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4"/>
            <a:stretch>
              <a:fillRect l="0" t="0" r="-22657"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sp>
        <p:nvSpPr>
          <p:cNvPr name="Freeform 6" id="6"/>
          <p:cNvSpPr/>
          <p:nvPr/>
        </p:nvSpPr>
        <p:spPr>
          <a:xfrm flipH="false" flipV="false" rot="0">
            <a:off x="1171331" y="2984151"/>
            <a:ext cx="5435424" cy="5464031"/>
          </a:xfrm>
          <a:custGeom>
            <a:avLst/>
            <a:gdLst/>
            <a:ahLst/>
            <a:cxnLst/>
            <a:rect r="r" b="b" t="t" l="l"/>
            <a:pathLst>
              <a:path h="5464031" w="5435424">
                <a:moveTo>
                  <a:pt x="0" y="0"/>
                </a:moveTo>
                <a:lnTo>
                  <a:pt x="5435424" y="0"/>
                </a:lnTo>
                <a:lnTo>
                  <a:pt x="5435424" y="5464031"/>
                </a:lnTo>
                <a:lnTo>
                  <a:pt x="0" y="5464031"/>
                </a:lnTo>
                <a:lnTo>
                  <a:pt x="0" y="0"/>
                </a:lnTo>
                <a:close/>
              </a:path>
            </a:pathLst>
          </a:custGeom>
          <a:blipFill>
            <a:blip r:embed="rId3"/>
            <a:stretch>
              <a:fillRect l="0" t="0" r="0" b="0"/>
            </a:stretch>
          </a:blipFill>
        </p:spPr>
      </p:sp>
      <p:sp>
        <p:nvSpPr>
          <p:cNvPr name="TextBox 7" id="7"/>
          <p:cNvSpPr txBox="true"/>
          <p:nvPr/>
        </p:nvSpPr>
        <p:spPr>
          <a:xfrm rot="0">
            <a:off x="1028700" y="1399785"/>
            <a:ext cx="11156110" cy="1216603"/>
          </a:xfrm>
          <a:prstGeom prst="rect">
            <a:avLst/>
          </a:prstGeom>
        </p:spPr>
        <p:txBody>
          <a:bodyPr anchor="t" rtlCol="false" tIns="0" lIns="0" bIns="0" rIns="0">
            <a:spAutoFit/>
          </a:bodyPr>
          <a:lstStyle/>
          <a:p>
            <a:pPr algn="l" marL="0" indent="0" lvl="0">
              <a:lnSpc>
                <a:spcPts val="4725"/>
              </a:lnSpc>
            </a:pPr>
            <a:r>
              <a:rPr lang="en-US" b="true" sz="4295">
                <a:solidFill>
                  <a:srgbClr val="253036"/>
                </a:solidFill>
                <a:latin typeface="Helvetica Now Bold"/>
                <a:ea typeface="Helvetica Now Bold"/>
                <a:cs typeface="Helvetica Now Bold"/>
                <a:sym typeface="Helvetica Now Bold"/>
              </a:rPr>
              <a:t>Arquitectura Cliente-Servidor Desacoplada (API REST)</a:t>
            </a:r>
          </a:p>
        </p:txBody>
      </p:sp>
      <p:grpSp>
        <p:nvGrpSpPr>
          <p:cNvPr name="Group 8" id="8"/>
          <p:cNvGrpSpPr/>
          <p:nvPr/>
        </p:nvGrpSpPr>
        <p:grpSpPr>
          <a:xfrm rot="0">
            <a:off x="6753911" y="2984151"/>
            <a:ext cx="10861797" cy="4537339"/>
            <a:chOff x="0" y="0"/>
            <a:chExt cx="3478735" cy="1453185"/>
          </a:xfrm>
        </p:grpSpPr>
        <p:sp>
          <p:nvSpPr>
            <p:cNvPr name="Freeform 9" id="9"/>
            <p:cNvSpPr/>
            <p:nvPr/>
          </p:nvSpPr>
          <p:spPr>
            <a:xfrm flipH="false" flipV="false" rot="0">
              <a:off x="0" y="0"/>
              <a:ext cx="3478735" cy="1453185"/>
            </a:xfrm>
            <a:custGeom>
              <a:avLst/>
              <a:gdLst/>
              <a:ahLst/>
              <a:cxnLst/>
              <a:rect r="r" b="b" t="t" l="l"/>
              <a:pathLst>
                <a:path h="1453185" w="3478735">
                  <a:moveTo>
                    <a:pt x="0" y="0"/>
                  </a:moveTo>
                  <a:lnTo>
                    <a:pt x="3478735" y="0"/>
                  </a:lnTo>
                  <a:lnTo>
                    <a:pt x="3478735" y="1453185"/>
                  </a:lnTo>
                  <a:lnTo>
                    <a:pt x="0" y="1453185"/>
                  </a:lnTo>
                  <a:close/>
                </a:path>
              </a:pathLst>
            </a:custGeom>
            <a:solidFill>
              <a:srgbClr val="253036"/>
            </a:solidFill>
            <a:ln w="19050" cap="sq">
              <a:solidFill>
                <a:srgbClr val="000000"/>
              </a:solidFill>
              <a:prstDash val="solid"/>
              <a:miter/>
            </a:ln>
          </p:spPr>
        </p:sp>
        <p:sp>
          <p:nvSpPr>
            <p:cNvPr name="TextBox 10" id="10"/>
            <p:cNvSpPr txBox="true"/>
            <p:nvPr/>
          </p:nvSpPr>
          <p:spPr>
            <a:xfrm>
              <a:off x="0" y="28575"/>
              <a:ext cx="3478735" cy="1424610"/>
            </a:xfrm>
            <a:prstGeom prst="rect">
              <a:avLst/>
            </a:prstGeom>
          </p:spPr>
          <p:txBody>
            <a:bodyPr anchor="ctr" rtlCol="false" tIns="50800" lIns="50800" bIns="50800" rIns="50800"/>
            <a:lstStyle/>
            <a:p>
              <a:pPr algn="ctr" marL="0" indent="0" lvl="0">
                <a:lnSpc>
                  <a:spcPts val="2640"/>
                </a:lnSpc>
              </a:pPr>
            </a:p>
          </p:txBody>
        </p:sp>
      </p:grpSp>
      <p:grpSp>
        <p:nvGrpSpPr>
          <p:cNvPr name="Group 11" id="11"/>
          <p:cNvGrpSpPr/>
          <p:nvPr/>
        </p:nvGrpSpPr>
        <p:grpSpPr>
          <a:xfrm rot="0">
            <a:off x="6993184" y="3147983"/>
            <a:ext cx="10360364" cy="4209674"/>
            <a:chOff x="0" y="0"/>
            <a:chExt cx="3318139" cy="1348243"/>
          </a:xfrm>
        </p:grpSpPr>
        <p:sp>
          <p:nvSpPr>
            <p:cNvPr name="Freeform 12" id="12"/>
            <p:cNvSpPr/>
            <p:nvPr/>
          </p:nvSpPr>
          <p:spPr>
            <a:xfrm flipH="false" flipV="false" rot="0">
              <a:off x="0" y="0"/>
              <a:ext cx="3318139" cy="1348243"/>
            </a:xfrm>
            <a:custGeom>
              <a:avLst/>
              <a:gdLst/>
              <a:ahLst/>
              <a:cxnLst/>
              <a:rect r="r" b="b" t="t" l="l"/>
              <a:pathLst>
                <a:path h="1348243" w="3318139">
                  <a:moveTo>
                    <a:pt x="0" y="0"/>
                  </a:moveTo>
                  <a:lnTo>
                    <a:pt x="3318139" y="0"/>
                  </a:lnTo>
                  <a:lnTo>
                    <a:pt x="3318139" y="1348243"/>
                  </a:lnTo>
                  <a:lnTo>
                    <a:pt x="0" y="1348243"/>
                  </a:lnTo>
                  <a:close/>
                </a:path>
              </a:pathLst>
            </a:custGeom>
            <a:solidFill>
              <a:srgbClr val="2FA2CB"/>
            </a:solidFill>
            <a:ln w="19050" cap="sq">
              <a:solidFill>
                <a:srgbClr val="000000"/>
              </a:solidFill>
              <a:prstDash val="solid"/>
              <a:miter/>
            </a:ln>
          </p:spPr>
        </p:sp>
        <p:sp>
          <p:nvSpPr>
            <p:cNvPr name="TextBox 13" id="13"/>
            <p:cNvSpPr txBox="true"/>
            <p:nvPr/>
          </p:nvSpPr>
          <p:spPr>
            <a:xfrm>
              <a:off x="0" y="28575"/>
              <a:ext cx="3318139" cy="1319668"/>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4" id="14"/>
          <p:cNvSpPr txBox="true"/>
          <p:nvPr/>
        </p:nvSpPr>
        <p:spPr>
          <a:xfrm rot="0">
            <a:off x="6993184" y="3488597"/>
            <a:ext cx="10174697" cy="3771900"/>
          </a:xfrm>
          <a:prstGeom prst="rect">
            <a:avLst/>
          </a:prstGeom>
        </p:spPr>
        <p:txBody>
          <a:bodyPr anchor="t" rtlCol="false" tIns="0" lIns="0" bIns="0" rIns="0">
            <a:spAutoFit/>
          </a:bodyPr>
          <a:lstStyle/>
          <a:p>
            <a:pPr algn="l" marL="452788" indent="-226394" lvl="1">
              <a:lnSpc>
                <a:spcPts val="2516"/>
              </a:lnSpc>
              <a:buFont typeface="Arial"/>
              <a:buChar char="•"/>
            </a:pPr>
            <a:r>
              <a:rPr lang="en-US" sz="2097">
                <a:solidFill>
                  <a:srgbClr val="000000"/>
                </a:solidFill>
                <a:latin typeface="Helvetica Now"/>
                <a:ea typeface="Helvetica Now"/>
                <a:cs typeface="Helvetica Now"/>
                <a:sym typeface="Helvetica Now"/>
              </a:rPr>
              <a:t>Definimos una Arquitectura Cliente-Servidor Desacoplada mediante API REST.</a:t>
            </a:r>
          </a:p>
          <a:p>
            <a:pPr algn="l">
              <a:lnSpc>
                <a:spcPts val="2516"/>
              </a:lnSpc>
            </a:pPr>
          </a:p>
          <a:p>
            <a:pPr algn="l" marL="452788" indent="-226394" lvl="1">
              <a:lnSpc>
                <a:spcPts val="2516"/>
              </a:lnSpc>
              <a:buFont typeface="Arial"/>
              <a:buChar char="•"/>
            </a:pPr>
            <a:r>
              <a:rPr lang="en-US" sz="2097">
                <a:solidFill>
                  <a:srgbClr val="000000"/>
                </a:solidFill>
                <a:latin typeface="Helvetica Now"/>
                <a:ea typeface="Helvetica Now"/>
                <a:cs typeface="Helvetica Now"/>
                <a:sym typeface="Helvetica Now"/>
              </a:rPr>
              <a:t>La capa de Frontend (en React y React Native) es independiente del backend, encargándose del GPS y la interfaz. Se comunica vía JSON HTTPS con nuestra API en NestJS, la cual orquesta la lógica de negocio, las transacciones de pago y el motor de IA. </a:t>
            </a:r>
          </a:p>
          <a:p>
            <a:pPr algn="l">
              <a:lnSpc>
                <a:spcPts val="2516"/>
              </a:lnSpc>
            </a:pPr>
          </a:p>
          <a:p>
            <a:pPr algn="l" marL="452788" indent="-226394" lvl="1">
              <a:lnSpc>
                <a:spcPts val="2516"/>
              </a:lnSpc>
              <a:buFont typeface="Arial"/>
              <a:buChar char="•"/>
            </a:pPr>
            <a:r>
              <a:rPr lang="en-US" sz="2097">
                <a:solidFill>
                  <a:srgbClr val="000000"/>
                </a:solidFill>
                <a:latin typeface="Helvetica Now"/>
                <a:ea typeface="Helvetica Now"/>
                <a:cs typeface="Helvetica Now"/>
                <a:sym typeface="Helvetica Now"/>
              </a:rPr>
              <a:t>Finalmente, en la base de datos utilizamos PostgreSQL con la extensión PostGIS, lo que nos permite ejecutar consultas de geolocalización ultra rápidas para responder en la vista de mapa en menos de 300 ms.</a:t>
            </a:r>
          </a:p>
          <a:p>
            <a:pPr algn="l">
              <a:lnSpc>
                <a:spcPts val="2516"/>
              </a:lnSpc>
            </a:pPr>
          </a:p>
        </p:txBody>
      </p:sp>
      <p:sp>
        <p:nvSpPr>
          <p:cNvPr name="Freeform 15" id="15"/>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4"/>
            <a:stretch>
              <a:fillRect l="0" t="0" r="0" b="0"/>
            </a:stretch>
          </a:blipFill>
        </p:spPr>
      </p:sp>
      <p:sp>
        <p:nvSpPr>
          <p:cNvPr name="Freeform 16" id="16"/>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5"/>
            <a:stretch>
              <a:fillRect l="0" t="0" r="-22657"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78321" y="2760147"/>
            <a:ext cx="10847823" cy="5562986"/>
          </a:xfrm>
          <a:custGeom>
            <a:avLst/>
            <a:gdLst/>
            <a:ahLst/>
            <a:cxnLst/>
            <a:rect r="r" b="b" t="t" l="l"/>
            <a:pathLst>
              <a:path h="5562986" w="10847823">
                <a:moveTo>
                  <a:pt x="0" y="0"/>
                </a:moveTo>
                <a:lnTo>
                  <a:pt x="10847823" y="0"/>
                </a:lnTo>
                <a:lnTo>
                  <a:pt x="10847823" y="5562986"/>
                </a:lnTo>
                <a:lnTo>
                  <a:pt x="0" y="5562986"/>
                </a:lnTo>
                <a:lnTo>
                  <a:pt x="0" y="0"/>
                </a:lnTo>
                <a:close/>
              </a:path>
            </a:pathLst>
          </a:custGeom>
          <a:blipFill>
            <a:blip r:embed="rId2"/>
            <a:stretch>
              <a:fillRect l="0" t="0" r="0" b="0"/>
            </a:stretch>
          </a:blipFill>
        </p:spPr>
      </p:sp>
      <p:sp>
        <p:nvSpPr>
          <p:cNvPr name="TextBox 3" id="3"/>
          <p:cNvSpPr txBox="true"/>
          <p:nvPr/>
        </p:nvSpPr>
        <p:spPr>
          <a:xfrm rot="0">
            <a:off x="4288874" y="1448827"/>
            <a:ext cx="9026716"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Gracias por su atención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DAHUkYLsIVY</dc:identifier>
  <dcterms:modified xsi:type="dcterms:W3CDTF">2011-08-01T06:04:30Z</dcterms:modified>
  <cp:revision>1</cp:revision>
  <dc:title>Capstone Fase 1</dc:title>
</cp:coreProperties>
</file>