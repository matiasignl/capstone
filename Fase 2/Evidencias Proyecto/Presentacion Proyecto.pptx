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Roboto Bold" charset="1" panose="02000000000000000000"/>
      <p:regular r:id="rId13"/>
    </p:embeddedFont>
    <p:embeddedFont>
      <p:font typeface="Roboto" charset="1" panose="0200000000000000000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png" Type="http://schemas.openxmlformats.org/officeDocument/2006/relationships/image"/><Relationship Id="rId4" Target="../media/image6.png" Type="http://schemas.openxmlformats.org/officeDocument/2006/relationships/image"/><Relationship Id="rId5" Target="../media/image7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png" Type="http://schemas.openxmlformats.org/officeDocument/2006/relationships/image"/><Relationship Id="rId4" Target="../media/image10.png" Type="http://schemas.openxmlformats.org/officeDocument/2006/relationships/image"/><Relationship Id="rId5" Target="../media/image11.png" Type="http://schemas.openxmlformats.org/officeDocument/2006/relationships/image"/><Relationship Id="rId6" Target="../media/image12.png" Type="http://schemas.openxmlformats.org/officeDocument/2006/relationships/image"/><Relationship Id="rId7" Target="../media/image13.png" Type="http://schemas.openxmlformats.org/officeDocument/2006/relationships/image"/><Relationship Id="rId8" Target="../media/image1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png" Type="http://schemas.openxmlformats.org/officeDocument/2006/relationships/image"/><Relationship Id="rId4" Target="../media/image17.png" Type="http://schemas.openxmlformats.org/officeDocument/2006/relationships/image"/><Relationship Id="rId5" Target="../media/image18.png" Type="http://schemas.openxmlformats.org/officeDocument/2006/relationships/image"/><Relationship Id="rId6" Target="../media/image19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Relationship Id="rId3" Target="../media/image21.png" Type="http://schemas.openxmlformats.org/officeDocument/2006/relationships/image"/><Relationship Id="rId4" Target="../media/image22.png" Type="http://schemas.openxmlformats.org/officeDocument/2006/relationships/image"/><Relationship Id="rId5" Target="../media/image23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png" Type="http://schemas.openxmlformats.org/officeDocument/2006/relationships/image"/><Relationship Id="rId3" Target="../media/image25.png" Type="http://schemas.openxmlformats.org/officeDocument/2006/relationships/image"/><Relationship Id="rId4" Target="../media/image26.png" Type="http://schemas.openxmlformats.org/officeDocument/2006/relationships/image"/><Relationship Id="rId5" Target="../media/image27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21197" y="1711926"/>
            <a:ext cx="4137312" cy="18752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11"/>
              </a:lnSpc>
            </a:pPr>
            <a:r>
              <a:rPr lang="en-US" b="true" sz="14011" spc="-280">
                <a:gradFill>
                  <a:gsLst>
                    <a:gs pos="0">
                      <a:srgbClr val="2EB2E9">
                        <a:alpha val="100000"/>
                      </a:srgbClr>
                    </a:gs>
                    <a:gs pos="33325">
                      <a:srgbClr val="34B2F2">
                        <a:alpha val="100000"/>
                      </a:srgbClr>
                    </a:gs>
                    <a:gs pos="66675">
                      <a:srgbClr val="7C68F1">
                        <a:alpha val="100000"/>
                      </a:srgbClr>
                    </a:gs>
                    <a:gs pos="100000">
                      <a:srgbClr val="8758F0">
                        <a:alpha val="100000"/>
                      </a:srgbClr>
                    </a:gs>
                  </a:gsLst>
                  <a:lin ang="2700000"/>
                </a:gradFill>
                <a:latin typeface="Roboto Bold"/>
                <a:ea typeface="Roboto Bold"/>
                <a:cs typeface="Roboto Bold"/>
                <a:sym typeface="Roboto Bold"/>
              </a:rPr>
              <a:t>UBIK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558799" y="3394176"/>
            <a:ext cx="8413840" cy="16699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80"/>
              </a:lnSpc>
            </a:pPr>
            <a:r>
              <a:rPr lang="en-US" sz="5139" spc="-102">
                <a:solidFill>
                  <a:srgbClr val="FFFFFF">
                    <a:alpha val="89804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- Plataforma de exploración de eventos sociales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04027" y="6243456"/>
            <a:ext cx="3891016" cy="5270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74"/>
              </a:lnSpc>
            </a:pPr>
            <a:r>
              <a:rPr lang="en-US" sz="3478" spc="-33" b="true">
                <a:solidFill>
                  <a:srgbClr val="2EB2E9"/>
                </a:solidFill>
                <a:latin typeface="Roboto Bold"/>
                <a:ea typeface="Roboto Bold"/>
                <a:cs typeface="Roboto Bold"/>
                <a:sym typeface="Roboto Bold"/>
              </a:rPr>
              <a:t>Benjamín Montero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80422" y="6866487"/>
            <a:ext cx="6251545" cy="3759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2"/>
              </a:lnSpc>
            </a:pPr>
            <a:r>
              <a:rPr lang="en-US" sz="2443" spc="-23">
                <a:solidFill>
                  <a:srgbClr val="FFFFFF">
                    <a:alpha val="80000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Líder Full-Stack &amp; Seguridad Transaccional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15393" y="7704358"/>
            <a:ext cx="2754487" cy="5270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74"/>
              </a:lnSpc>
            </a:pPr>
            <a:r>
              <a:rPr lang="en-US" sz="3478" spc="-33" b="true">
                <a:solidFill>
                  <a:srgbClr val="8C52FF"/>
                </a:solidFill>
                <a:latin typeface="Roboto Bold"/>
                <a:ea typeface="Roboto Bold"/>
                <a:cs typeface="Roboto Bold"/>
                <a:sym typeface="Roboto Bold"/>
              </a:rPr>
              <a:t>Matías Marín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79787" y="8327389"/>
            <a:ext cx="6315042" cy="3759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2"/>
              </a:lnSpc>
            </a:pPr>
            <a:r>
              <a:rPr lang="en-US" sz="2443" spc="-23">
                <a:solidFill>
                  <a:srgbClr val="FFFFFF">
                    <a:alpha val="80000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Líder Full-Stack &amp; Arquitectura Geoespacial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0668000" y="6096000"/>
            <a:ext cx="6667500" cy="3714750"/>
          </a:xfrm>
          <a:custGeom>
            <a:avLst/>
            <a:gdLst/>
            <a:ahLst/>
            <a:cxnLst/>
            <a:rect r="r" b="b" t="t" l="l"/>
            <a:pathLst>
              <a:path h="3714750" w="6667500">
                <a:moveTo>
                  <a:pt x="0" y="0"/>
                </a:moveTo>
                <a:lnTo>
                  <a:pt x="6667500" y="0"/>
                </a:lnTo>
                <a:lnTo>
                  <a:pt x="6667500" y="3714750"/>
                </a:lnTo>
                <a:lnTo>
                  <a:pt x="0" y="37147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791" r="0" b="-9791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53086" y="875694"/>
            <a:ext cx="4342933" cy="20015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65"/>
              </a:lnSpc>
            </a:pPr>
            <a:r>
              <a:rPr lang="en-US" sz="7492" spc="-149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Problema</a:t>
            </a:r>
          </a:p>
          <a:p>
            <a:pPr algn="l">
              <a:lnSpc>
                <a:spcPts val="7865"/>
              </a:lnSpc>
            </a:pPr>
            <a:r>
              <a:rPr lang="en-US" sz="7492" spc="-149" b="true">
                <a:solidFill>
                  <a:srgbClr val="45B0F0"/>
                </a:solidFill>
                <a:latin typeface="Roboto Bold"/>
                <a:ea typeface="Roboto Bold"/>
                <a:cs typeface="Roboto Bold"/>
                <a:sym typeface="Roboto Bold"/>
              </a:rPr>
              <a:t>y </a:t>
            </a:r>
            <a:r>
              <a:rPr lang="en-US" sz="7492" spc="-149" b="true">
                <a:solidFill>
                  <a:srgbClr val="6C97F4"/>
                </a:solidFill>
                <a:latin typeface="Roboto Bold"/>
                <a:ea typeface="Roboto Bold"/>
                <a:cs typeface="Roboto Bold"/>
                <a:sym typeface="Roboto Bold"/>
              </a:rPr>
              <a:t>So</a:t>
            </a:r>
            <a:r>
              <a:rPr lang="en-US" sz="7492" spc="-149" b="true">
                <a:solidFill>
                  <a:srgbClr val="9E6DF8"/>
                </a:solidFill>
                <a:latin typeface="Roboto Bold"/>
                <a:ea typeface="Roboto Bold"/>
                <a:cs typeface="Roboto Bold"/>
                <a:sym typeface="Roboto Bold"/>
              </a:rPr>
              <a:t>lución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165371" y="3804963"/>
            <a:ext cx="4013637" cy="758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55"/>
              </a:lnSpc>
            </a:pPr>
            <a:r>
              <a:rPr lang="en-US" sz="2351">
                <a:solidFill>
                  <a:srgbClr val="FFFFFF">
                    <a:alpha val="80000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Descubrimiento fragmentado</a:t>
            </a:r>
          </a:p>
          <a:p>
            <a:pPr algn="l">
              <a:lnSpc>
                <a:spcPts val="3055"/>
              </a:lnSpc>
            </a:pPr>
            <a:r>
              <a:rPr lang="en-US" sz="2351">
                <a:solidFill>
                  <a:srgbClr val="FFFFFF">
                    <a:alpha val="80000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de eventos sociales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163642" y="4808681"/>
            <a:ext cx="4186532" cy="1175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32"/>
              </a:lnSpc>
            </a:pPr>
            <a:r>
              <a:rPr lang="en-US" sz="2487">
                <a:solidFill>
                  <a:srgbClr val="FFFFFF">
                    <a:alpha val="80000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Altos costos de difusión para pequeños organizadores y agrupaciones comunitarias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48317" y="6726766"/>
            <a:ext cx="5719035" cy="758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55"/>
              </a:lnSpc>
            </a:pPr>
            <a:r>
              <a:rPr lang="en-US" sz="2351" b="true">
                <a:solidFill>
                  <a:srgbClr val="45B0F0">
                    <a:alpha val="80000"/>
                  </a:srgbClr>
                </a:solidFill>
                <a:latin typeface="Roboto Bold"/>
                <a:ea typeface="Roboto Bold"/>
                <a:cs typeface="Roboto Bold"/>
                <a:sym typeface="Roboto Bold"/>
              </a:rPr>
              <a:t>Plataforma web georreferenciada</a:t>
            </a:r>
            <a:r>
              <a:rPr lang="en-US" sz="2351">
                <a:solidFill>
                  <a:srgbClr val="FFFFFF">
                    <a:alpha val="80000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 que conecta eventos y asistentes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52383" y="7735843"/>
            <a:ext cx="5312523" cy="758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55"/>
              </a:lnSpc>
            </a:pPr>
            <a:r>
              <a:rPr lang="en-US" sz="2351" b="true">
                <a:solidFill>
                  <a:srgbClr val="45B0F0">
                    <a:alpha val="80000"/>
                  </a:srgbClr>
                </a:solidFill>
                <a:latin typeface="Roboto Bold"/>
                <a:ea typeface="Roboto Bold"/>
                <a:cs typeface="Roboto Bold"/>
                <a:sym typeface="Roboto Bold"/>
              </a:rPr>
              <a:t>Mapa interactivo</a:t>
            </a:r>
            <a:r>
              <a:rPr lang="en-US" sz="2351">
                <a:solidFill>
                  <a:srgbClr val="FFFFFF">
                    <a:alpha val="80000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 con filtros por radio y </a:t>
            </a:r>
            <a:r>
              <a:rPr lang="en-US" sz="2351" b="true">
                <a:solidFill>
                  <a:srgbClr val="9E6DF8">
                    <a:alpha val="80000"/>
                  </a:srgbClr>
                </a:solidFill>
                <a:latin typeface="Roboto Bold"/>
                <a:ea typeface="Roboto Bold"/>
                <a:cs typeface="Roboto Bold"/>
                <a:sym typeface="Roboto Bold"/>
              </a:rPr>
              <a:t>recomendaciones personalizadas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52158" y="8754622"/>
            <a:ext cx="5335012" cy="3897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32"/>
              </a:lnSpc>
            </a:pPr>
            <a:r>
              <a:rPr lang="en-US" sz="2487" b="true">
                <a:solidFill>
                  <a:srgbClr val="9E6DF8">
                    <a:alpha val="80000"/>
                  </a:srgbClr>
                </a:solidFill>
                <a:latin typeface="Roboto Bold"/>
                <a:ea typeface="Roboto Bold"/>
                <a:cs typeface="Roboto Bold"/>
                <a:sym typeface="Roboto Bold"/>
              </a:rPr>
              <a:t>Independencia</a:t>
            </a:r>
            <a:r>
              <a:rPr lang="en-US" sz="2487">
                <a:solidFill>
                  <a:srgbClr val="FFFFFF">
                    <a:alpha val="80000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 de ticketeras masivas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4618924" y="4898923"/>
            <a:ext cx="790450" cy="2416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2"/>
              </a:lnSpc>
            </a:pPr>
            <a:r>
              <a:rPr lang="en-US" sz="1494">
                <a:solidFill>
                  <a:srgbClr val="FFFFFF">
                    <a:alpha val="80000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Deportes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616788" y="5350748"/>
            <a:ext cx="1003972" cy="2416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2"/>
              </a:lnSpc>
            </a:pPr>
            <a:r>
              <a:rPr lang="en-US" sz="1494">
                <a:solidFill>
                  <a:srgbClr val="FFFFFF">
                    <a:alpha val="80000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Comunidad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581411" y="7459266"/>
            <a:ext cx="1862849" cy="2416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2"/>
              </a:lnSpc>
            </a:pPr>
            <a:r>
              <a:rPr lang="en-US" sz="1494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Recomendado para ti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610516" y="6600798"/>
            <a:ext cx="1631214" cy="2416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2"/>
              </a:lnSpc>
            </a:pPr>
            <a:r>
              <a:rPr lang="en-US" sz="1494">
                <a:solidFill>
                  <a:srgbClr val="FFFFFF">
                    <a:alpha val="80000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Todos los horarios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5310170" y="7941213"/>
            <a:ext cx="1317353" cy="2416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2"/>
              </a:lnSpc>
            </a:pPr>
            <a:r>
              <a:rPr lang="en-US" sz="1494">
                <a:solidFill>
                  <a:srgbClr val="FFFFFF">
                    <a:alpha val="80000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Concierto Indie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4615012" y="4447098"/>
            <a:ext cx="1181650" cy="2416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2"/>
              </a:lnSpc>
            </a:pPr>
            <a:r>
              <a:rPr lang="en-US" sz="1494">
                <a:solidFill>
                  <a:srgbClr val="FFFFFF">
                    <a:alpha val="80000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Arte y Cultura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5311764" y="8528586"/>
            <a:ext cx="1157979" cy="2416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2"/>
              </a:lnSpc>
            </a:pPr>
            <a:r>
              <a:rPr lang="en-US" sz="1494">
                <a:solidFill>
                  <a:srgbClr val="FFFFFF">
                    <a:alpha val="80000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a 1,2 km de ti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4590564" y="3498265"/>
            <a:ext cx="947524" cy="2416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2"/>
              </a:lnSpc>
            </a:pPr>
            <a:r>
              <a:rPr lang="en-US" sz="1494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Categorías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5286882" y="8242430"/>
            <a:ext cx="967267" cy="2416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2"/>
              </a:lnSpc>
            </a:pPr>
            <a:r>
              <a:rPr lang="en-US" sz="1494">
                <a:solidFill>
                  <a:srgbClr val="45B0F0">
                    <a:alpha val="80000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Esta noche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4593005" y="1660773"/>
            <a:ext cx="703452" cy="3077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0"/>
              </a:lnSpc>
            </a:pPr>
            <a:r>
              <a:rPr lang="en-US" sz="1916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Filtros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4620449" y="3965151"/>
            <a:ext cx="637880" cy="2416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2"/>
              </a:lnSpc>
            </a:pPr>
            <a:r>
              <a:rPr lang="en-US" sz="1494">
                <a:solidFill>
                  <a:srgbClr val="FFFFFF">
                    <a:alpha val="80000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Música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4594738" y="6073669"/>
            <a:ext cx="530066" cy="2416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2"/>
              </a:lnSpc>
            </a:pPr>
            <a:r>
              <a:rPr lang="en-US" sz="1494">
                <a:solidFill>
                  <a:srgbClr val="FFFFFF">
                    <a:alpha val="80000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Fecha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4595060" y="2308458"/>
            <a:ext cx="497865" cy="2416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2"/>
              </a:lnSpc>
            </a:pPr>
            <a:r>
              <a:rPr lang="en-US" sz="1494">
                <a:solidFill>
                  <a:srgbClr val="FFFFFF">
                    <a:alpha val="80000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Radio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10668000" y="2333625"/>
            <a:ext cx="6191250" cy="2857500"/>
          </a:xfrm>
          <a:custGeom>
            <a:avLst/>
            <a:gdLst/>
            <a:ahLst/>
            <a:cxnLst/>
            <a:rect r="r" b="b" t="t" l="l"/>
            <a:pathLst>
              <a:path h="2857500" w="6191250">
                <a:moveTo>
                  <a:pt x="0" y="0"/>
                </a:moveTo>
                <a:lnTo>
                  <a:pt x="6191250" y="0"/>
                </a:lnTo>
                <a:lnTo>
                  <a:pt x="6191250" y="2857500"/>
                </a:lnTo>
                <a:lnTo>
                  <a:pt x="0" y="28575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2177" r="0" b="-22177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0668000" y="6572250"/>
            <a:ext cx="6191250" cy="2857500"/>
          </a:xfrm>
          <a:custGeom>
            <a:avLst/>
            <a:gdLst/>
            <a:ahLst/>
            <a:cxnLst/>
            <a:rect r="r" b="b" t="t" l="l"/>
            <a:pathLst>
              <a:path h="2857500" w="6191250">
                <a:moveTo>
                  <a:pt x="0" y="0"/>
                </a:moveTo>
                <a:lnTo>
                  <a:pt x="6191250" y="0"/>
                </a:lnTo>
                <a:lnTo>
                  <a:pt x="6191250" y="2857500"/>
                </a:lnTo>
                <a:lnTo>
                  <a:pt x="0" y="28575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22177" r="0" b="-22177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02690" y="976073"/>
            <a:ext cx="8666980" cy="916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45"/>
              </a:lnSpc>
            </a:pPr>
            <a:r>
              <a:rPr lang="en-US" sz="6845" spc="-340" b="true">
                <a:solidFill>
                  <a:srgbClr val="F4F4F4"/>
                </a:solidFill>
                <a:latin typeface="Roboto Bold"/>
                <a:ea typeface="Roboto Bold"/>
                <a:cs typeface="Roboto Bold"/>
                <a:sym typeface="Roboto Bold"/>
              </a:rPr>
              <a:t>Objetivos del Proyecto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733592" y="2786243"/>
            <a:ext cx="7007976" cy="12696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82"/>
              </a:lnSpc>
            </a:pPr>
            <a:r>
              <a:rPr lang="en-US" b="true" sz="2487" spc="-74">
                <a:gradFill>
                  <a:gsLst>
                    <a:gs pos="0">
                      <a:srgbClr val="22A8DD">
                        <a:alpha val="100000"/>
                      </a:srgbClr>
                    </a:gs>
                    <a:gs pos="33325">
                      <a:srgbClr val="9E39FF">
                        <a:alpha val="100000"/>
                      </a:srgbClr>
                    </a:gs>
                    <a:gs pos="66675">
                      <a:srgbClr val="E2D7C7">
                        <a:alpha val="100000"/>
                      </a:srgbClr>
                    </a:gs>
                    <a:gs pos="100000">
                      <a:srgbClr val="BBB8B7">
                        <a:alpha val="100000"/>
                      </a:srgbClr>
                    </a:gs>
                  </a:gsLst>
                  <a:lin ang="5400000"/>
                </a:gradFill>
                <a:latin typeface="Roboto Bold"/>
                <a:ea typeface="Roboto Bold"/>
                <a:cs typeface="Roboto Bold"/>
                <a:sym typeface="Roboto Bold"/>
              </a:rPr>
              <a:t>Plataforma web  georreferenciada con IA</a:t>
            </a:r>
          </a:p>
          <a:p>
            <a:pPr algn="l">
              <a:lnSpc>
                <a:spcPts val="3482"/>
              </a:lnSpc>
            </a:pPr>
            <a:r>
              <a:rPr lang="en-US" sz="2487" spc="-74">
                <a:gradFill>
                  <a:gsLst>
                    <a:gs pos="0">
                      <a:srgbClr val="22A8DD">
                        <a:alpha val="100000"/>
                      </a:srgbClr>
                    </a:gs>
                    <a:gs pos="33325">
                      <a:srgbClr val="9E39FF">
                        <a:alpha val="100000"/>
                      </a:srgbClr>
                    </a:gs>
                    <a:gs pos="66675">
                      <a:srgbClr val="E2D7C7">
                        <a:alpha val="100000"/>
                      </a:srgbClr>
                    </a:gs>
                    <a:gs pos="100000">
                      <a:srgbClr val="BBB8B7">
                        <a:alpha val="100000"/>
                      </a:srgbClr>
                    </a:gs>
                  </a:gsLst>
                  <a:lin ang="5400000"/>
                </a:gradFill>
                <a:latin typeface="Roboto"/>
                <a:ea typeface="Roboto"/>
                <a:cs typeface="Roboto"/>
                <a:sym typeface="Roboto"/>
              </a:rPr>
              <a:t>para explorar, recomendar y gestionar</a:t>
            </a:r>
          </a:p>
          <a:p>
            <a:pPr algn="l">
              <a:lnSpc>
                <a:spcPts val="3482"/>
              </a:lnSpc>
            </a:pPr>
            <a:r>
              <a:rPr lang="en-US" sz="2487" spc="-74">
                <a:gradFill>
                  <a:gsLst>
                    <a:gs pos="0">
                      <a:srgbClr val="22A8DD">
                        <a:alpha val="100000"/>
                      </a:srgbClr>
                    </a:gs>
                    <a:gs pos="33325">
                      <a:srgbClr val="9E39FF">
                        <a:alpha val="100000"/>
                      </a:srgbClr>
                    </a:gs>
                    <a:gs pos="66675">
                      <a:srgbClr val="E2D7C7">
                        <a:alpha val="100000"/>
                      </a:srgbClr>
                    </a:gs>
                    <a:gs pos="100000">
                      <a:srgbClr val="BBB8B7">
                        <a:alpha val="100000"/>
                      </a:srgbClr>
                    </a:gs>
                  </a:gsLst>
                  <a:lin ang="5400000"/>
                </a:gradFill>
                <a:latin typeface="Roboto"/>
                <a:ea typeface="Roboto"/>
                <a:cs typeface="Roboto"/>
                <a:sym typeface="Roboto"/>
              </a:rPr>
              <a:t>eventos sociales y comunitarios.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4475018"/>
            <a:ext cx="4869941" cy="841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82"/>
              </a:lnSpc>
            </a:pPr>
            <a:r>
              <a:rPr lang="en-US" b="true" sz="2487" spc="-74">
                <a:gradFill>
                  <a:gsLst>
                    <a:gs pos="0">
                      <a:srgbClr val="22A8DD">
                        <a:alpha val="100000"/>
                      </a:srgbClr>
                    </a:gs>
                    <a:gs pos="33325">
                      <a:srgbClr val="9E39FF">
                        <a:alpha val="100000"/>
                      </a:srgbClr>
                    </a:gs>
                    <a:gs pos="66675">
                      <a:srgbClr val="E2D7C7">
                        <a:alpha val="100000"/>
                      </a:srgbClr>
                    </a:gs>
                    <a:gs pos="100000">
                      <a:srgbClr val="BBB8B7">
                        <a:alpha val="100000"/>
                      </a:srgbClr>
                    </a:gs>
                  </a:gsLst>
                  <a:lin ang="5400000"/>
                </a:gradFill>
                <a:latin typeface="Roboto Bold"/>
                <a:ea typeface="Roboto Bold"/>
                <a:cs typeface="Roboto Bold"/>
                <a:sym typeface="Roboto Bold"/>
              </a:rPr>
              <a:t>Arquitectura geoespacial</a:t>
            </a:r>
          </a:p>
          <a:p>
            <a:pPr algn="l">
              <a:lnSpc>
                <a:spcPts val="3482"/>
              </a:lnSpc>
            </a:pPr>
            <a:r>
              <a:rPr lang="en-US" sz="2487" spc="-74">
                <a:gradFill>
                  <a:gsLst>
                    <a:gs pos="0">
                      <a:srgbClr val="22A8DD">
                        <a:alpha val="100000"/>
                      </a:srgbClr>
                    </a:gs>
                    <a:gs pos="33325">
                      <a:srgbClr val="9E39FF">
                        <a:alpha val="100000"/>
                      </a:srgbClr>
                    </a:gs>
                    <a:gs pos="66675">
                      <a:srgbClr val="E2D7C7">
                        <a:alpha val="100000"/>
                      </a:srgbClr>
                    </a:gs>
                    <a:gs pos="100000">
                      <a:srgbClr val="BBB8B7">
                        <a:alpha val="100000"/>
                      </a:srgbClr>
                    </a:gs>
                  </a:gsLst>
                  <a:lin ang="5400000"/>
                </a:gradFill>
                <a:latin typeface="Roboto"/>
                <a:ea typeface="Roboto"/>
                <a:cs typeface="Roboto"/>
                <a:sym typeface="Roboto"/>
              </a:rPr>
              <a:t>con latencias &lt; 300 ms en mapas.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53651" y="6099628"/>
            <a:ext cx="5002092" cy="12696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82"/>
              </a:lnSpc>
            </a:pPr>
            <a:r>
              <a:rPr lang="en-US" b="true" sz="2487" spc="-74">
                <a:gradFill>
                  <a:gsLst>
                    <a:gs pos="0">
                      <a:srgbClr val="22A8DD">
                        <a:alpha val="100000"/>
                      </a:srgbClr>
                    </a:gs>
                    <a:gs pos="33325">
                      <a:srgbClr val="9E39FF">
                        <a:alpha val="100000"/>
                      </a:srgbClr>
                    </a:gs>
                    <a:gs pos="66675">
                      <a:srgbClr val="E2D7C7">
                        <a:alpha val="100000"/>
                      </a:srgbClr>
                    </a:gs>
                    <a:gs pos="100000">
                      <a:srgbClr val="BBB8B7">
                        <a:alpha val="100000"/>
                      </a:srgbClr>
                    </a:gs>
                  </a:gsLst>
                  <a:lin ang="5400000"/>
                </a:gradFill>
                <a:latin typeface="Roboto Bold"/>
                <a:ea typeface="Roboto Bold"/>
                <a:cs typeface="Roboto Bold"/>
                <a:sym typeface="Roboto Bold"/>
              </a:rPr>
              <a:t>Motor de IA</a:t>
            </a:r>
          </a:p>
          <a:p>
            <a:pPr algn="l">
              <a:lnSpc>
                <a:spcPts val="3482"/>
              </a:lnSpc>
            </a:pPr>
            <a:r>
              <a:rPr lang="en-US" sz="2487" spc="-74">
                <a:gradFill>
                  <a:gsLst>
                    <a:gs pos="0">
                      <a:srgbClr val="22A8DD">
                        <a:alpha val="100000"/>
                      </a:srgbClr>
                    </a:gs>
                    <a:gs pos="33325">
                      <a:srgbClr val="9E39FF">
                        <a:alpha val="100000"/>
                      </a:srgbClr>
                    </a:gs>
                    <a:gs pos="66675">
                      <a:srgbClr val="E2D7C7">
                        <a:alpha val="100000"/>
                      </a:srgbClr>
                    </a:gs>
                    <a:gs pos="100000">
                      <a:srgbClr val="BBB8B7">
                        <a:alpha val="100000"/>
                      </a:srgbClr>
                    </a:gs>
                  </a:gsLst>
                  <a:lin ang="5400000"/>
                </a:gradFill>
                <a:latin typeface="Roboto"/>
                <a:ea typeface="Roboto"/>
                <a:cs typeface="Roboto"/>
                <a:sym typeface="Roboto"/>
              </a:rPr>
              <a:t>para recomendación personalizada</a:t>
            </a:r>
          </a:p>
          <a:p>
            <a:pPr algn="l">
              <a:lnSpc>
                <a:spcPts val="3482"/>
              </a:lnSpc>
            </a:pPr>
            <a:r>
              <a:rPr lang="en-US" sz="2487" spc="-74">
                <a:gradFill>
                  <a:gsLst>
                    <a:gs pos="0">
                      <a:srgbClr val="22A8DD">
                        <a:alpha val="100000"/>
                      </a:srgbClr>
                    </a:gs>
                    <a:gs pos="33325">
                      <a:srgbClr val="9E39FF">
                        <a:alpha val="100000"/>
                      </a:srgbClr>
                    </a:gs>
                    <a:gs pos="66675">
                      <a:srgbClr val="E2D7C7">
                        <a:alpha val="100000"/>
                      </a:srgbClr>
                    </a:gs>
                    <a:gs pos="100000">
                      <a:srgbClr val="BBB8B7">
                        <a:alpha val="100000"/>
                      </a:srgbClr>
                    </a:gs>
                  </a:gsLst>
                  <a:lin ang="5400000"/>
                </a:gradFill>
                <a:latin typeface="Roboto"/>
                <a:ea typeface="Roboto"/>
                <a:cs typeface="Roboto"/>
                <a:sym typeface="Roboto"/>
              </a:rPr>
              <a:t>y búsqueda en lenguaje natural.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32202" y="8012355"/>
            <a:ext cx="7146956" cy="12696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82"/>
              </a:lnSpc>
            </a:pPr>
            <a:r>
              <a:rPr lang="en-US" b="true" sz="2487" spc="-74">
                <a:gradFill>
                  <a:gsLst>
                    <a:gs pos="0">
                      <a:srgbClr val="22A8DD">
                        <a:alpha val="100000"/>
                      </a:srgbClr>
                    </a:gs>
                    <a:gs pos="33325">
                      <a:srgbClr val="9E39FF">
                        <a:alpha val="100000"/>
                      </a:srgbClr>
                    </a:gs>
                    <a:gs pos="66675">
                      <a:srgbClr val="E2D7C7">
                        <a:alpha val="100000"/>
                      </a:srgbClr>
                    </a:gs>
                    <a:gs pos="100000">
                      <a:srgbClr val="BBB8B7">
                        <a:alpha val="100000"/>
                      </a:srgbClr>
                    </a:gs>
                  </a:gsLst>
                  <a:lin ang="5400000"/>
                </a:gradFill>
                <a:latin typeface="Roboto Bold"/>
                <a:ea typeface="Roboto Bold"/>
                <a:cs typeface="Roboto Bold"/>
                <a:sym typeface="Roboto Bold"/>
              </a:rPr>
              <a:t>Módulo transaccional</a:t>
            </a:r>
          </a:p>
          <a:p>
            <a:pPr algn="l">
              <a:lnSpc>
                <a:spcPts val="3482"/>
              </a:lnSpc>
            </a:pPr>
            <a:r>
              <a:rPr lang="en-US" sz="2487" spc="-74">
                <a:gradFill>
                  <a:gsLst>
                    <a:gs pos="0">
                      <a:srgbClr val="22A8DD">
                        <a:alpha val="100000"/>
                      </a:srgbClr>
                    </a:gs>
                    <a:gs pos="33325">
                      <a:srgbClr val="9E39FF">
                        <a:alpha val="100000"/>
                      </a:srgbClr>
                    </a:gs>
                    <a:gs pos="66675">
                      <a:srgbClr val="E2D7C7">
                        <a:alpha val="100000"/>
                      </a:srgbClr>
                    </a:gs>
                    <a:gs pos="100000">
                      <a:srgbClr val="BBB8B7">
                        <a:alpha val="100000"/>
                      </a:srgbClr>
                    </a:gs>
                  </a:gsLst>
                  <a:lin ang="5400000"/>
                </a:gradFill>
                <a:latin typeface="Roboto"/>
                <a:ea typeface="Roboto"/>
                <a:cs typeface="Roboto"/>
                <a:sym typeface="Roboto"/>
              </a:rPr>
              <a:t>con pasarela de pago, Códigos Únicos de Compra</a:t>
            </a:r>
          </a:p>
          <a:p>
            <a:pPr algn="l">
              <a:lnSpc>
                <a:spcPts val="3482"/>
              </a:lnSpc>
            </a:pPr>
            <a:r>
              <a:rPr lang="en-US" sz="2487" spc="-74">
                <a:gradFill>
                  <a:gsLst>
                    <a:gs pos="0">
                      <a:srgbClr val="22A8DD">
                        <a:alpha val="100000"/>
                      </a:srgbClr>
                    </a:gs>
                    <a:gs pos="33325">
                      <a:srgbClr val="9E39FF">
                        <a:alpha val="100000"/>
                      </a:srgbClr>
                    </a:gs>
                    <a:gs pos="66675">
                      <a:srgbClr val="E2D7C7">
                        <a:alpha val="100000"/>
                      </a:srgbClr>
                    </a:gs>
                    <a:gs pos="100000">
                      <a:srgbClr val="BBB8B7">
                        <a:alpha val="100000"/>
                      </a:srgbClr>
                    </a:gs>
                  </a:gsLst>
                  <a:lin ang="5400000"/>
                </a:gradFill>
                <a:latin typeface="Roboto"/>
                <a:ea typeface="Roboto"/>
                <a:cs typeface="Roboto"/>
                <a:sym typeface="Roboto"/>
              </a:rPr>
              <a:t>y panel de verificación en tiempo real.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0287000" y="2381250"/>
            <a:ext cx="3714750" cy="1809750"/>
          </a:xfrm>
          <a:custGeom>
            <a:avLst/>
            <a:gdLst/>
            <a:ahLst/>
            <a:cxnLst/>
            <a:rect r="r" b="b" t="t" l="l"/>
            <a:pathLst>
              <a:path h="1809750" w="3714750">
                <a:moveTo>
                  <a:pt x="0" y="0"/>
                </a:moveTo>
                <a:lnTo>
                  <a:pt x="3714750" y="0"/>
                </a:lnTo>
                <a:lnTo>
                  <a:pt x="3714750" y="1809750"/>
                </a:lnTo>
                <a:lnTo>
                  <a:pt x="0" y="18097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8378" r="0" b="-18378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0287000" y="4191000"/>
            <a:ext cx="3714750" cy="1381125"/>
          </a:xfrm>
          <a:custGeom>
            <a:avLst/>
            <a:gdLst/>
            <a:ahLst/>
            <a:cxnLst/>
            <a:rect r="r" b="b" t="t" l="l"/>
            <a:pathLst>
              <a:path h="1381125" w="3714750">
                <a:moveTo>
                  <a:pt x="0" y="0"/>
                </a:moveTo>
                <a:lnTo>
                  <a:pt x="3714750" y="0"/>
                </a:lnTo>
                <a:lnTo>
                  <a:pt x="3714750" y="1381125"/>
                </a:lnTo>
                <a:lnTo>
                  <a:pt x="0" y="13811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39599" r="0" b="-39599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0287000" y="5715000"/>
            <a:ext cx="3714750" cy="1381125"/>
          </a:xfrm>
          <a:custGeom>
            <a:avLst/>
            <a:gdLst/>
            <a:ahLst/>
            <a:cxnLst/>
            <a:rect r="r" b="b" t="t" l="l"/>
            <a:pathLst>
              <a:path h="1381125" w="3714750">
                <a:moveTo>
                  <a:pt x="0" y="0"/>
                </a:moveTo>
                <a:lnTo>
                  <a:pt x="3714750" y="0"/>
                </a:lnTo>
                <a:lnTo>
                  <a:pt x="3714750" y="1381125"/>
                </a:lnTo>
                <a:lnTo>
                  <a:pt x="0" y="13811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39599" r="0" b="-39599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0287000" y="7239000"/>
            <a:ext cx="3714750" cy="1524000"/>
          </a:xfrm>
          <a:custGeom>
            <a:avLst/>
            <a:gdLst/>
            <a:ahLst/>
            <a:cxnLst/>
            <a:rect r="r" b="b" t="t" l="l"/>
            <a:pathLst>
              <a:path h="1524000" w="3714750">
                <a:moveTo>
                  <a:pt x="0" y="0"/>
                </a:moveTo>
                <a:lnTo>
                  <a:pt x="3714750" y="0"/>
                </a:lnTo>
                <a:lnTo>
                  <a:pt x="3714750" y="1524000"/>
                </a:lnTo>
                <a:lnTo>
                  <a:pt x="0" y="15240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31199" r="0" b="-31199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94477" y="798068"/>
            <a:ext cx="9488260" cy="9375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77"/>
              </a:lnSpc>
            </a:pPr>
            <a:r>
              <a:rPr lang="en-US" sz="6618" spc="-197" b="true">
                <a:solidFill>
                  <a:srgbClr val="F6F6F6"/>
                </a:solidFill>
                <a:latin typeface="Roboto Bold"/>
                <a:ea typeface="Roboto Bold"/>
                <a:cs typeface="Roboto Bold"/>
                <a:sym typeface="Roboto Bold"/>
              </a:rPr>
              <a:t>Alcances y Limitaciones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49589" y="2922613"/>
            <a:ext cx="2197318" cy="4497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84"/>
              </a:lnSpc>
            </a:pPr>
            <a:r>
              <a:rPr lang="en-US" b="true" sz="3168" spc="-94">
                <a:solidFill>
                  <a:srgbClr val="36B0EB"/>
                </a:solidFill>
                <a:latin typeface="Roboto Bold"/>
                <a:ea typeface="Roboto Bold"/>
                <a:cs typeface="Roboto Bold"/>
                <a:sym typeface="Roboto Bold"/>
              </a:rPr>
              <a:t>ALCANCES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53835" y="3840525"/>
            <a:ext cx="1772721" cy="6753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81"/>
              </a:lnSpc>
            </a:pPr>
            <a:r>
              <a:rPr lang="en-US" sz="1986" spc="-5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Multiplataforma web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50091" y="4939967"/>
            <a:ext cx="2147191" cy="13536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81"/>
              </a:lnSpc>
            </a:pPr>
            <a:r>
              <a:rPr lang="en-US" sz="1986" spc="-5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Mapa interactivo en tiempo real con centrado GPS y filtros por distancia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45120" y="6687024"/>
            <a:ext cx="2644280" cy="6753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81"/>
              </a:lnSpc>
            </a:pPr>
            <a:r>
              <a:rPr lang="en-US" sz="1986" spc="-5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IA para recomendación y búsqueda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47595" y="7756343"/>
            <a:ext cx="2396752" cy="1014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81"/>
              </a:lnSpc>
            </a:pPr>
            <a:r>
              <a:rPr lang="en-US" sz="1986" spc="-5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Pasarela de pago, códigos de compra y panel de auditoría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722680" y="2922613"/>
            <a:ext cx="2853878" cy="4497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84"/>
              </a:lnSpc>
            </a:pPr>
            <a:r>
              <a:rPr lang="en-US" b="true" sz="3168" spc="-94">
                <a:solidFill>
                  <a:srgbClr val="A05CE1"/>
                </a:solidFill>
                <a:latin typeface="Roboto Bold"/>
                <a:ea typeface="Roboto Bold"/>
                <a:cs typeface="Roboto Bold"/>
                <a:sym typeface="Roboto Bold"/>
              </a:rPr>
              <a:t>LIMITACIONES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724625" y="3840525"/>
            <a:ext cx="2659400" cy="1014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81"/>
              </a:lnSpc>
            </a:pPr>
            <a:r>
              <a:rPr lang="en-US" sz="1986" spc="-5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Solución estrictamente software, sin hardware físico como torniquetes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730533" y="5226122"/>
            <a:ext cx="2068535" cy="6753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81"/>
              </a:lnSpc>
            </a:pPr>
            <a:r>
              <a:rPr lang="en-US" sz="1986" spc="-5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Alcance territorial</a:t>
            </a:r>
          </a:p>
          <a:p>
            <a:pPr algn="l">
              <a:lnSpc>
                <a:spcPts val="2781"/>
              </a:lnSpc>
            </a:pPr>
            <a:r>
              <a:rPr lang="en-US" sz="1986" spc="-5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enfocado en Chile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720158" y="6415028"/>
            <a:ext cx="3106115" cy="10163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3"/>
              </a:lnSpc>
            </a:pPr>
            <a:r>
              <a:rPr lang="en-US" sz="1916" spc="-57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No almacenamiento de datos bancarios; seguridad bancaria delegada a pasarela de pago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6191250" y="3619500"/>
            <a:ext cx="2381250" cy="1238250"/>
          </a:xfrm>
          <a:custGeom>
            <a:avLst/>
            <a:gdLst/>
            <a:ahLst/>
            <a:cxnLst/>
            <a:rect r="r" b="b" t="t" l="l"/>
            <a:pathLst>
              <a:path h="1238250" w="2381250">
                <a:moveTo>
                  <a:pt x="0" y="0"/>
                </a:moveTo>
                <a:lnTo>
                  <a:pt x="2381250" y="0"/>
                </a:lnTo>
                <a:lnTo>
                  <a:pt x="2381250" y="1238250"/>
                </a:lnTo>
                <a:lnTo>
                  <a:pt x="0" y="12382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4062" r="0" b="-14062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6191250" y="5048250"/>
            <a:ext cx="2381250" cy="1238250"/>
          </a:xfrm>
          <a:custGeom>
            <a:avLst/>
            <a:gdLst/>
            <a:ahLst/>
            <a:cxnLst/>
            <a:rect r="r" b="b" t="t" l="l"/>
            <a:pathLst>
              <a:path h="1238250" w="2381250">
                <a:moveTo>
                  <a:pt x="0" y="0"/>
                </a:moveTo>
                <a:lnTo>
                  <a:pt x="2381250" y="0"/>
                </a:lnTo>
                <a:lnTo>
                  <a:pt x="2381250" y="1238250"/>
                </a:lnTo>
                <a:lnTo>
                  <a:pt x="0" y="12382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4062" r="0" b="-14062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6191250" y="6477000"/>
            <a:ext cx="2381250" cy="1238250"/>
          </a:xfrm>
          <a:custGeom>
            <a:avLst/>
            <a:gdLst/>
            <a:ahLst/>
            <a:cxnLst/>
            <a:rect r="r" b="b" t="t" l="l"/>
            <a:pathLst>
              <a:path h="1238250" w="2381250">
                <a:moveTo>
                  <a:pt x="0" y="0"/>
                </a:moveTo>
                <a:lnTo>
                  <a:pt x="2381250" y="0"/>
                </a:lnTo>
                <a:lnTo>
                  <a:pt x="2381250" y="1238250"/>
                </a:lnTo>
                <a:lnTo>
                  <a:pt x="0" y="12382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4062" r="0" b="-14062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6191250" y="7620000"/>
            <a:ext cx="2381250" cy="1238250"/>
          </a:xfrm>
          <a:custGeom>
            <a:avLst/>
            <a:gdLst/>
            <a:ahLst/>
            <a:cxnLst/>
            <a:rect r="r" b="b" t="t" l="l"/>
            <a:pathLst>
              <a:path h="1238250" w="2381250">
                <a:moveTo>
                  <a:pt x="0" y="0"/>
                </a:moveTo>
                <a:lnTo>
                  <a:pt x="2381250" y="0"/>
                </a:lnTo>
                <a:lnTo>
                  <a:pt x="2381250" y="1238250"/>
                </a:lnTo>
                <a:lnTo>
                  <a:pt x="0" y="123825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14062" r="0" b="-14062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4382750" y="3619500"/>
            <a:ext cx="2381250" cy="1238250"/>
          </a:xfrm>
          <a:custGeom>
            <a:avLst/>
            <a:gdLst/>
            <a:ahLst/>
            <a:cxnLst/>
            <a:rect r="r" b="b" t="t" l="l"/>
            <a:pathLst>
              <a:path h="1238250" w="2381250">
                <a:moveTo>
                  <a:pt x="0" y="0"/>
                </a:moveTo>
                <a:lnTo>
                  <a:pt x="2381250" y="0"/>
                </a:lnTo>
                <a:lnTo>
                  <a:pt x="2381250" y="1238250"/>
                </a:lnTo>
                <a:lnTo>
                  <a:pt x="0" y="123825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14062" r="0" b="-14062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4382750" y="5048250"/>
            <a:ext cx="2381250" cy="1238250"/>
          </a:xfrm>
          <a:custGeom>
            <a:avLst/>
            <a:gdLst/>
            <a:ahLst/>
            <a:cxnLst/>
            <a:rect r="r" b="b" t="t" l="l"/>
            <a:pathLst>
              <a:path h="1238250" w="2381250">
                <a:moveTo>
                  <a:pt x="0" y="0"/>
                </a:moveTo>
                <a:lnTo>
                  <a:pt x="2381250" y="0"/>
                </a:lnTo>
                <a:lnTo>
                  <a:pt x="2381250" y="1238250"/>
                </a:lnTo>
                <a:lnTo>
                  <a:pt x="0" y="123825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-14062" r="0" b="-14062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4382750" y="6477000"/>
            <a:ext cx="2381250" cy="1238250"/>
          </a:xfrm>
          <a:custGeom>
            <a:avLst/>
            <a:gdLst/>
            <a:ahLst/>
            <a:cxnLst/>
            <a:rect r="r" b="b" t="t" l="l"/>
            <a:pathLst>
              <a:path h="1238250" w="2381250">
                <a:moveTo>
                  <a:pt x="0" y="0"/>
                </a:moveTo>
                <a:lnTo>
                  <a:pt x="2381250" y="0"/>
                </a:lnTo>
                <a:lnTo>
                  <a:pt x="2381250" y="1238250"/>
                </a:lnTo>
                <a:lnTo>
                  <a:pt x="0" y="123825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-14062" r="0" b="-14062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96632" y="592673"/>
            <a:ext cx="5346144" cy="1745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69"/>
              </a:lnSpc>
            </a:pPr>
            <a:r>
              <a:rPr lang="en-US" sz="6246" spc="-311" b="true">
                <a:solidFill>
                  <a:srgbClr val="F4F4F4"/>
                </a:solidFill>
                <a:latin typeface="Roboto Bold"/>
                <a:ea typeface="Roboto Bold"/>
                <a:cs typeface="Roboto Bold"/>
                <a:sym typeface="Roboto Bold"/>
              </a:rPr>
              <a:t>Metodología</a:t>
            </a:r>
          </a:p>
          <a:p>
            <a:pPr algn="l">
              <a:lnSpc>
                <a:spcPts val="6869"/>
              </a:lnSpc>
            </a:pPr>
            <a:r>
              <a:rPr lang="en-US" sz="6246" spc="-311" b="true">
                <a:solidFill>
                  <a:srgbClr val="F4F4F4"/>
                </a:solidFill>
                <a:latin typeface="Roboto Bold"/>
                <a:ea typeface="Roboto Bold"/>
                <a:cs typeface="Roboto Bold"/>
                <a:sym typeface="Roboto Bold"/>
              </a:rPr>
              <a:t>y Herramientas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729786" y="3310924"/>
            <a:ext cx="2030738" cy="400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4"/>
              </a:lnSpc>
            </a:pPr>
            <a:r>
              <a:rPr lang="en-US" sz="2759" spc="-82" b="true">
                <a:solidFill>
                  <a:srgbClr val="22A8DD"/>
                </a:solidFill>
                <a:latin typeface="Roboto Bold"/>
                <a:ea typeface="Roboto Bold"/>
                <a:cs typeface="Roboto Bold"/>
                <a:sym typeface="Roboto Bold"/>
              </a:rPr>
              <a:t>Enfoque ágil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01770" y="4251238"/>
            <a:ext cx="4832357" cy="3077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0"/>
              </a:lnSpc>
            </a:pPr>
            <a:r>
              <a:rPr lang="en-US" sz="1916" spc="-18">
                <a:solidFill>
                  <a:srgbClr val="B2B2B2"/>
                </a:solidFill>
                <a:latin typeface="Roboto"/>
                <a:ea typeface="Roboto"/>
                <a:cs typeface="Roboto"/>
                <a:sym typeface="Roboto"/>
              </a:rPr>
              <a:t>Sprints de 3 semanas según planificación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20285" y="5133286"/>
            <a:ext cx="2980883" cy="400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4"/>
              </a:lnSpc>
            </a:pPr>
            <a:r>
              <a:rPr lang="en-US" sz="2759" spc="-82" b="true">
                <a:solidFill>
                  <a:srgbClr val="22A8DD"/>
                </a:solidFill>
                <a:latin typeface="Roboto Bold"/>
                <a:ea typeface="Roboto Bold"/>
                <a:cs typeface="Roboto Bold"/>
                <a:sym typeface="Roboto Bold"/>
              </a:rPr>
              <a:t>Gestión de trabajo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50094" y="5628962"/>
            <a:ext cx="7768828" cy="3665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0"/>
              </a:lnSpc>
            </a:pPr>
            <a:r>
              <a:rPr lang="en-US" sz="2254" spc="-22">
                <a:solidFill>
                  <a:srgbClr val="B2B2B2"/>
                </a:solidFill>
                <a:latin typeface="Roboto"/>
                <a:ea typeface="Roboto"/>
                <a:cs typeface="Roboto"/>
                <a:sym typeface="Roboto"/>
              </a:rPr>
              <a:t>Kanban con Trello o GitHub Projects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81182" y="6058539"/>
            <a:ext cx="6891213" cy="3077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0"/>
              </a:lnSpc>
            </a:pPr>
            <a:r>
              <a:rPr lang="en-US" sz="1916" spc="-18">
                <a:solidFill>
                  <a:srgbClr val="B2B2B2"/>
                </a:solidFill>
                <a:latin typeface="Roboto"/>
                <a:ea typeface="Roboto"/>
                <a:cs typeface="Roboto"/>
                <a:sym typeface="Roboto"/>
              </a:rPr>
              <a:t>Columnas: Backlog, En progreso, QA/Pruebas, Completado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16217" y="6940587"/>
            <a:ext cx="3387708" cy="400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4"/>
              </a:lnSpc>
            </a:pPr>
            <a:r>
              <a:rPr lang="en-US" sz="2759" spc="-82" b="true">
                <a:solidFill>
                  <a:srgbClr val="22A8DD"/>
                </a:solidFill>
                <a:latin typeface="Roboto Bold"/>
                <a:ea typeface="Roboto Bold"/>
                <a:cs typeface="Roboto Bold"/>
                <a:sym typeface="Roboto Bold"/>
              </a:rPr>
              <a:t>Control de </a:t>
            </a:r>
            <a:r>
              <a:rPr lang="en-US" sz="2759" spc="-82" b="true">
                <a:solidFill>
                  <a:srgbClr val="5599D8"/>
                </a:solidFill>
                <a:latin typeface="Roboto Bold"/>
                <a:ea typeface="Roboto Bold"/>
                <a:cs typeface="Roboto Bold"/>
                <a:sym typeface="Roboto Bold"/>
              </a:rPr>
              <a:t>versiones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22328" y="8356306"/>
            <a:ext cx="2776580" cy="400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4"/>
              </a:lnSpc>
            </a:pPr>
            <a:r>
              <a:rPr lang="en-US" sz="2759" spc="-82" b="true">
                <a:solidFill>
                  <a:srgbClr val="7E58E8"/>
                </a:solidFill>
                <a:latin typeface="Roboto Bold"/>
                <a:ea typeface="Roboto Bold"/>
                <a:cs typeface="Roboto Bold"/>
                <a:sym typeface="Roboto Bold"/>
              </a:rPr>
              <a:t>Roles principales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75358" y="8874916"/>
            <a:ext cx="7473594" cy="3077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0"/>
              </a:lnSpc>
            </a:pPr>
            <a:r>
              <a:rPr lang="en-US" sz="1916" spc="-18" b="true">
                <a:solidFill>
                  <a:srgbClr val="7E58E8"/>
                </a:solidFill>
                <a:latin typeface="Roboto Bold"/>
                <a:ea typeface="Roboto Bold"/>
                <a:cs typeface="Roboto Bold"/>
                <a:sym typeface="Roboto Bold"/>
              </a:rPr>
              <a:t>Benjamín:</a:t>
            </a:r>
            <a:r>
              <a:rPr lang="en-US" sz="1916" spc="-18">
                <a:solidFill>
                  <a:srgbClr val="B2B2B2"/>
                </a:solidFill>
                <a:latin typeface="Roboto"/>
                <a:ea typeface="Roboto"/>
                <a:cs typeface="Roboto"/>
                <a:sym typeface="Roboto"/>
              </a:rPr>
              <a:t> pagos, códigos de compra, seguridad, desarrollo web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96746" y="9386985"/>
            <a:ext cx="5334815" cy="3077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0"/>
              </a:lnSpc>
            </a:pPr>
            <a:r>
              <a:rPr lang="en-US" sz="1916" spc="-18" b="true">
                <a:solidFill>
                  <a:srgbClr val="7E58E8"/>
                </a:solidFill>
                <a:latin typeface="Roboto Bold"/>
                <a:ea typeface="Roboto Bold"/>
                <a:cs typeface="Roboto Bold"/>
                <a:sym typeface="Roboto Bold"/>
              </a:rPr>
              <a:t>Matías:</a:t>
            </a:r>
            <a:r>
              <a:rPr lang="en-US" sz="1916" spc="-18">
                <a:solidFill>
                  <a:srgbClr val="B2B2B2"/>
                </a:solidFill>
                <a:latin typeface="Roboto"/>
                <a:ea typeface="Roboto"/>
                <a:cs typeface="Roboto"/>
                <a:sym typeface="Roboto"/>
              </a:rPr>
              <a:t> API REST, bases de datos, mapas e IA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289886" y="4368988"/>
            <a:ext cx="4282157" cy="5571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32"/>
              </a:lnSpc>
            </a:pPr>
            <a:r>
              <a:rPr lang="en-US" b="true" sz="3939" spc="-117">
                <a:solidFill>
                  <a:srgbClr val="22A8DD"/>
                </a:solidFill>
                <a:latin typeface="Roboto Bold"/>
                <a:ea typeface="Roboto Bold"/>
                <a:cs typeface="Roboto Bold"/>
                <a:sym typeface="Roboto Bold"/>
              </a:rPr>
              <a:t>Espacio </a:t>
            </a:r>
            <a:r>
              <a:rPr lang="en-US" b="true" sz="3939" spc="-117">
                <a:solidFill>
                  <a:srgbClr val="7E58E8"/>
                </a:solidFill>
                <a:latin typeface="Roboto Bold"/>
                <a:ea typeface="Roboto Bold"/>
                <a:cs typeface="Roboto Bold"/>
                <a:sym typeface="Roboto Bold"/>
              </a:rPr>
              <a:t>reservado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442829" y="5160439"/>
            <a:ext cx="3976272" cy="758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55"/>
              </a:lnSpc>
            </a:pPr>
            <a:r>
              <a:rPr lang="en-US" sz="2351" spc="-22">
                <a:solidFill>
                  <a:srgbClr val="B2B2B2"/>
                </a:solidFill>
                <a:latin typeface="Roboto"/>
                <a:ea typeface="Roboto"/>
                <a:cs typeface="Roboto"/>
                <a:sym typeface="Roboto"/>
              </a:rPr>
              <a:t>Capturas de tablero Kanban</a:t>
            </a:r>
          </a:p>
          <a:p>
            <a:pPr algn="ctr">
              <a:lnSpc>
                <a:spcPts val="3055"/>
              </a:lnSpc>
            </a:pPr>
            <a:r>
              <a:rPr lang="en-US" sz="2351" spc="-22">
                <a:solidFill>
                  <a:srgbClr val="B2B2B2"/>
                </a:solidFill>
                <a:latin typeface="Roboto"/>
                <a:ea typeface="Roboto"/>
                <a:cs typeface="Roboto"/>
                <a:sym typeface="Roboto"/>
              </a:rPr>
              <a:t>o repositorio de código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50094" y="7436263"/>
            <a:ext cx="7768828" cy="3665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0"/>
              </a:lnSpc>
            </a:pPr>
            <a:r>
              <a:rPr lang="en-US" sz="2254" spc="-22">
                <a:solidFill>
                  <a:srgbClr val="B2B2B2"/>
                </a:solidFill>
                <a:latin typeface="Roboto"/>
                <a:ea typeface="Roboto"/>
                <a:cs typeface="Roboto"/>
                <a:sym typeface="Roboto"/>
              </a:rPr>
              <a:t>Git y GitHub usando GitFlow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50094" y="3791540"/>
            <a:ext cx="7768828" cy="3665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0"/>
              </a:lnSpc>
            </a:pPr>
            <a:r>
              <a:rPr lang="en-US" sz="2254" spc="-22">
                <a:solidFill>
                  <a:srgbClr val="B2B2B2"/>
                </a:solidFill>
                <a:latin typeface="Roboto"/>
                <a:ea typeface="Roboto"/>
                <a:cs typeface="Roboto"/>
                <a:sym typeface="Roboto"/>
              </a:rPr>
              <a:t>Scrum Adaptado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11144250" y="2667000"/>
            <a:ext cx="2476500" cy="1381125"/>
          </a:xfrm>
          <a:custGeom>
            <a:avLst/>
            <a:gdLst/>
            <a:ahLst/>
            <a:cxnLst/>
            <a:rect r="r" b="b" t="t" l="l"/>
            <a:pathLst>
              <a:path h="1381125" w="2476500">
                <a:moveTo>
                  <a:pt x="0" y="0"/>
                </a:moveTo>
                <a:lnTo>
                  <a:pt x="2476500" y="0"/>
                </a:lnTo>
                <a:lnTo>
                  <a:pt x="2476500" y="1381125"/>
                </a:lnTo>
                <a:lnTo>
                  <a:pt x="0" y="13811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853" r="-15384" b="-30991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4097000" y="2667000"/>
            <a:ext cx="2476500" cy="1381125"/>
          </a:xfrm>
          <a:custGeom>
            <a:avLst/>
            <a:gdLst/>
            <a:ahLst/>
            <a:cxnLst/>
            <a:rect r="r" b="b" t="t" l="l"/>
            <a:pathLst>
              <a:path h="1381125" w="2476500">
                <a:moveTo>
                  <a:pt x="0" y="0"/>
                </a:moveTo>
                <a:lnTo>
                  <a:pt x="2476500" y="0"/>
                </a:lnTo>
                <a:lnTo>
                  <a:pt x="2476500" y="1381125"/>
                </a:lnTo>
                <a:lnTo>
                  <a:pt x="0" y="13811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6853" r="-15384" b="-30991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1144250" y="6191250"/>
            <a:ext cx="2476500" cy="1381125"/>
          </a:xfrm>
          <a:custGeom>
            <a:avLst/>
            <a:gdLst/>
            <a:ahLst/>
            <a:cxnLst/>
            <a:rect r="r" b="b" t="t" l="l"/>
            <a:pathLst>
              <a:path h="1381125" w="2476500">
                <a:moveTo>
                  <a:pt x="0" y="0"/>
                </a:moveTo>
                <a:lnTo>
                  <a:pt x="2476500" y="0"/>
                </a:lnTo>
                <a:lnTo>
                  <a:pt x="2476500" y="1381125"/>
                </a:lnTo>
                <a:lnTo>
                  <a:pt x="0" y="13811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6853" r="-15384" b="-30991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4097000" y="6191250"/>
            <a:ext cx="2476500" cy="1381125"/>
          </a:xfrm>
          <a:custGeom>
            <a:avLst/>
            <a:gdLst/>
            <a:ahLst/>
            <a:cxnLst/>
            <a:rect r="r" b="b" t="t" l="l"/>
            <a:pathLst>
              <a:path h="1381125" w="2476500">
                <a:moveTo>
                  <a:pt x="0" y="0"/>
                </a:moveTo>
                <a:lnTo>
                  <a:pt x="2476500" y="0"/>
                </a:lnTo>
                <a:lnTo>
                  <a:pt x="2476500" y="1381125"/>
                </a:lnTo>
                <a:lnTo>
                  <a:pt x="0" y="138112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12603" r="-7692" b="-16051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1144250" y="8096250"/>
            <a:ext cx="2476500" cy="1381125"/>
          </a:xfrm>
          <a:custGeom>
            <a:avLst/>
            <a:gdLst/>
            <a:ahLst/>
            <a:cxnLst/>
            <a:rect r="r" b="b" t="t" l="l"/>
            <a:pathLst>
              <a:path h="1381125" w="2476500">
                <a:moveTo>
                  <a:pt x="0" y="0"/>
                </a:moveTo>
                <a:lnTo>
                  <a:pt x="2476500" y="0"/>
                </a:lnTo>
                <a:lnTo>
                  <a:pt x="2476500" y="1381125"/>
                </a:lnTo>
                <a:lnTo>
                  <a:pt x="0" y="138112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12603" r="-7692" b="-16051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4277975" y="5467350"/>
            <a:ext cx="523875" cy="0"/>
          </a:xfrm>
          <a:prstGeom prst="line">
            <a:avLst/>
          </a:prstGeom>
          <a:ln cap="flat" w="19050">
            <a:solidFill>
              <a:srgbClr val="BA5FF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9896475" y="5467350"/>
            <a:ext cx="523875" cy="0"/>
          </a:xfrm>
          <a:prstGeom prst="line">
            <a:avLst/>
          </a:prstGeom>
          <a:ln cap="flat" w="19050">
            <a:solidFill>
              <a:srgbClr val="8C52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5562600" y="5467350"/>
            <a:ext cx="523875" cy="0"/>
          </a:xfrm>
          <a:prstGeom prst="line">
            <a:avLst/>
          </a:prstGeom>
          <a:ln cap="flat" w="19050">
            <a:solidFill>
              <a:srgbClr val="45B0F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1228725" y="5467350"/>
            <a:ext cx="523875" cy="0"/>
          </a:xfrm>
          <a:prstGeom prst="line">
            <a:avLst/>
          </a:prstGeom>
          <a:ln cap="flat" w="19050">
            <a:solidFill>
              <a:srgbClr val="22A8D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1714500" y="3667125"/>
            <a:ext cx="14859000" cy="0"/>
          </a:xfrm>
          <a:prstGeom prst="line">
            <a:avLst/>
          </a:prstGeom>
          <a:ln cap="flat" w="47625">
            <a:solidFill>
              <a:srgbClr val="6D89A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646464" y="919874"/>
            <a:ext cx="5005159" cy="9827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03"/>
              </a:lnSpc>
            </a:pPr>
            <a:r>
              <a:rPr lang="en-US" sz="7403" spc="-296" b="true">
                <a:solidFill>
                  <a:srgbClr val="F4F4F4"/>
                </a:solidFill>
                <a:latin typeface="Roboto Bold"/>
                <a:ea typeface="Roboto Bold"/>
                <a:cs typeface="Roboto Bold"/>
                <a:sym typeface="Roboto Bold"/>
              </a:rPr>
              <a:t>Cronograma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997624" y="2703969"/>
            <a:ext cx="797316" cy="7641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29"/>
              </a:lnSpc>
            </a:pPr>
            <a:r>
              <a:rPr lang="en-US" b="true" sz="5729" spc="-229">
                <a:solidFill>
                  <a:srgbClr val="16C7F2"/>
                </a:solidFill>
                <a:latin typeface="Roboto Bold"/>
                <a:ea typeface="Roboto Bold"/>
                <a:cs typeface="Roboto Bold"/>
                <a:sym typeface="Roboto Bold"/>
              </a:rPr>
              <a:t>01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337452" y="2703969"/>
            <a:ext cx="797316" cy="7641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29"/>
              </a:lnSpc>
            </a:pPr>
            <a:r>
              <a:rPr lang="en-US" b="true" sz="5729" spc="-229">
                <a:solidFill>
                  <a:srgbClr val="4698F3"/>
                </a:solidFill>
                <a:latin typeface="Roboto Bold"/>
                <a:ea typeface="Roboto Bold"/>
                <a:cs typeface="Roboto Bold"/>
                <a:sym typeface="Roboto Bold"/>
              </a:rPr>
              <a:t>02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677280" y="2703969"/>
            <a:ext cx="797316" cy="7641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29"/>
              </a:lnSpc>
            </a:pPr>
            <a:r>
              <a:rPr lang="en-US" b="true" sz="5729" spc="-229">
                <a:solidFill>
                  <a:srgbClr val="8C5FF3"/>
                </a:solidFill>
                <a:latin typeface="Roboto Bold"/>
                <a:ea typeface="Roboto Bold"/>
                <a:cs typeface="Roboto Bold"/>
                <a:sym typeface="Roboto Bold"/>
              </a:rPr>
              <a:t>03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5124264" y="2703969"/>
            <a:ext cx="797316" cy="7641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29"/>
              </a:lnSpc>
            </a:pPr>
            <a:r>
              <a:rPr lang="en-US" b="true" sz="5729" spc="-229">
                <a:solidFill>
                  <a:srgbClr val="BA5FF4"/>
                </a:solidFill>
                <a:latin typeface="Roboto Bold"/>
                <a:ea typeface="Roboto Bold"/>
                <a:cs typeface="Roboto Bold"/>
                <a:sym typeface="Roboto Bold"/>
              </a:rPr>
              <a:t>04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607363" y="4723738"/>
            <a:ext cx="1577838" cy="4927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55"/>
              </a:lnSpc>
            </a:pPr>
            <a:r>
              <a:rPr lang="en-US" b="true" sz="3755" spc="-150">
                <a:solidFill>
                  <a:srgbClr val="F4F4F4"/>
                </a:solidFill>
                <a:latin typeface="Roboto Bold"/>
                <a:ea typeface="Roboto Bold"/>
                <a:cs typeface="Roboto Bold"/>
                <a:sym typeface="Roboto Bold"/>
              </a:rPr>
              <a:t>Sprint 1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543119" y="5348287"/>
            <a:ext cx="1706325" cy="3167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51"/>
              </a:lnSpc>
            </a:pPr>
            <a:r>
              <a:rPr lang="en-US" b="true" sz="2351" spc="-94">
                <a:solidFill>
                  <a:srgbClr val="16C7F2">
                    <a:alpha val="80000"/>
                  </a:srgbClr>
                </a:solidFill>
                <a:latin typeface="Roboto Bold"/>
                <a:ea typeface="Roboto Bold"/>
                <a:cs typeface="Roboto Bold"/>
                <a:sym typeface="Roboto Bold"/>
              </a:rPr>
              <a:t>Semanas 1-3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98352" y="6251381"/>
            <a:ext cx="2839641" cy="1475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46"/>
              </a:lnSpc>
            </a:pPr>
            <a:r>
              <a:rPr lang="en-US" sz="2321" spc="-46">
                <a:solidFill>
                  <a:srgbClr val="FFFFFF">
                    <a:alpha val="80000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API, autenticación, entornos</a:t>
            </a:r>
          </a:p>
          <a:p>
            <a:pPr algn="l">
              <a:lnSpc>
                <a:spcPts val="3946"/>
              </a:lnSpc>
            </a:pPr>
            <a:r>
              <a:rPr lang="en-US" sz="2321" spc="-46">
                <a:solidFill>
                  <a:srgbClr val="FFFFFF">
                    <a:alpha val="80000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PostgreSQL + PostGIS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947191" y="4723738"/>
            <a:ext cx="1577838" cy="4927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55"/>
              </a:lnSpc>
            </a:pPr>
            <a:r>
              <a:rPr lang="en-US" b="true" sz="3755" spc="-150">
                <a:solidFill>
                  <a:srgbClr val="F4F4F4"/>
                </a:solidFill>
                <a:latin typeface="Roboto Bold"/>
                <a:ea typeface="Roboto Bold"/>
                <a:cs typeface="Roboto Bold"/>
                <a:sym typeface="Roboto Bold"/>
              </a:rPr>
              <a:t>Sprint 2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882947" y="5348287"/>
            <a:ext cx="1706325" cy="3167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51"/>
              </a:lnSpc>
            </a:pPr>
            <a:r>
              <a:rPr lang="en-US" b="true" sz="2351" spc="-94">
                <a:solidFill>
                  <a:srgbClr val="4698F3">
                    <a:alpha val="80000"/>
                  </a:srgbClr>
                </a:solidFill>
                <a:latin typeface="Roboto Bold"/>
                <a:ea typeface="Roboto Bold"/>
                <a:cs typeface="Roboto Bold"/>
                <a:sym typeface="Roboto Bold"/>
              </a:rPr>
              <a:t>Semanas 4-6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572125" y="6253492"/>
            <a:ext cx="2678906" cy="1471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9"/>
              </a:lnSpc>
            </a:pPr>
            <a:r>
              <a:rPr lang="en-US" sz="2387" spc="-47">
                <a:solidFill>
                  <a:srgbClr val="FFFFFF">
                    <a:alpha val="80000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Mapa interactivo,</a:t>
            </a:r>
          </a:p>
          <a:p>
            <a:pPr algn="l">
              <a:lnSpc>
                <a:spcPts val="4059"/>
              </a:lnSpc>
            </a:pPr>
            <a:r>
              <a:rPr lang="en-US" sz="2387" spc="-47">
                <a:solidFill>
                  <a:srgbClr val="FFFFFF">
                    <a:alpha val="80000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GPS,</a:t>
            </a:r>
          </a:p>
          <a:p>
            <a:pPr algn="l">
              <a:lnSpc>
                <a:spcPts val="4059"/>
              </a:lnSpc>
            </a:pPr>
            <a:r>
              <a:rPr lang="en-US" sz="2387" spc="-47">
                <a:solidFill>
                  <a:srgbClr val="FFFFFF">
                    <a:alpha val="80000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filtros por radio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287019" y="4723738"/>
            <a:ext cx="1577838" cy="4927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55"/>
              </a:lnSpc>
            </a:pPr>
            <a:r>
              <a:rPr lang="en-US" b="true" sz="3755" spc="-150">
                <a:solidFill>
                  <a:srgbClr val="F4F4F4"/>
                </a:solidFill>
                <a:latin typeface="Roboto Bold"/>
                <a:ea typeface="Roboto Bold"/>
                <a:cs typeface="Roboto Bold"/>
                <a:sym typeface="Roboto Bold"/>
              </a:rPr>
              <a:t>Sprint 3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222776" y="5348287"/>
            <a:ext cx="1706325" cy="3167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51"/>
              </a:lnSpc>
            </a:pPr>
            <a:r>
              <a:rPr lang="en-US" b="true" sz="2351" spc="-94">
                <a:solidFill>
                  <a:srgbClr val="8C5FF3">
                    <a:alpha val="80000"/>
                  </a:srgbClr>
                </a:solidFill>
                <a:latin typeface="Roboto Bold"/>
                <a:ea typeface="Roboto Bold"/>
                <a:cs typeface="Roboto Bold"/>
                <a:sym typeface="Roboto Bold"/>
              </a:rPr>
              <a:t>Semanas 7-9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590484" y="6253492"/>
            <a:ext cx="3268266" cy="1471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9"/>
              </a:lnSpc>
            </a:pPr>
            <a:r>
              <a:rPr lang="en-US" sz="2387" spc="-47">
                <a:solidFill>
                  <a:srgbClr val="FFFFFF">
                    <a:alpha val="80000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Pagos,</a:t>
            </a:r>
          </a:p>
          <a:p>
            <a:pPr algn="l">
              <a:lnSpc>
                <a:spcPts val="4059"/>
              </a:lnSpc>
            </a:pPr>
            <a:r>
              <a:rPr lang="en-US" sz="2387" spc="-47">
                <a:solidFill>
                  <a:srgbClr val="FFFFFF">
                    <a:alpha val="80000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Códigos Únicos de Compra, motor de IA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4734003" y="4723738"/>
            <a:ext cx="1577838" cy="4927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55"/>
              </a:lnSpc>
            </a:pPr>
            <a:r>
              <a:rPr lang="en-US" b="true" sz="3755" spc="-150">
                <a:solidFill>
                  <a:srgbClr val="F4F4F4"/>
                </a:solidFill>
                <a:latin typeface="Roboto Bold"/>
                <a:ea typeface="Roboto Bold"/>
                <a:cs typeface="Roboto Bold"/>
                <a:sym typeface="Roboto Bold"/>
              </a:rPr>
              <a:t>Sprint 4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4504524" y="5348287"/>
            <a:ext cx="2036797" cy="3167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51"/>
              </a:lnSpc>
            </a:pPr>
            <a:r>
              <a:rPr lang="en-US" b="true" sz="2351" spc="-94">
                <a:solidFill>
                  <a:srgbClr val="BA5FF4">
                    <a:alpha val="80000"/>
                  </a:srgbClr>
                </a:solidFill>
                <a:latin typeface="Roboto Bold"/>
                <a:ea typeface="Roboto Bold"/>
                <a:cs typeface="Roboto Bold"/>
                <a:sym typeface="Roboto Bold"/>
              </a:rPr>
              <a:t>Semanas 10-12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4278570" y="6260986"/>
            <a:ext cx="2678906" cy="19084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33"/>
              </a:lnSpc>
            </a:pPr>
            <a:r>
              <a:rPr lang="en-US" sz="2254" spc="-45">
                <a:solidFill>
                  <a:srgbClr val="FFFFFF">
                    <a:alpha val="80000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Panel de auditoría, pruebas de latencia, optimización,</a:t>
            </a:r>
          </a:p>
          <a:p>
            <a:pPr algn="l">
              <a:lnSpc>
                <a:spcPts val="3833"/>
              </a:lnSpc>
            </a:pPr>
            <a:r>
              <a:rPr lang="en-US" sz="2254" spc="-45">
                <a:solidFill>
                  <a:srgbClr val="FFFFFF">
                    <a:alpha val="80000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despliegue</a:t>
            </a:r>
          </a:p>
        </p:txBody>
      </p:sp>
      <p:sp>
        <p:nvSpPr>
          <p:cNvPr name="Freeform 24" id="24"/>
          <p:cNvSpPr/>
          <p:nvPr/>
        </p:nvSpPr>
        <p:spPr>
          <a:xfrm flipH="false" flipV="false" rot="0">
            <a:off x="857250" y="4095750"/>
            <a:ext cx="3143250" cy="1714500"/>
          </a:xfrm>
          <a:custGeom>
            <a:avLst/>
            <a:gdLst/>
            <a:ahLst/>
            <a:cxnLst/>
            <a:rect r="r" b="b" t="t" l="l"/>
            <a:pathLst>
              <a:path h="1714500" w="3143250">
                <a:moveTo>
                  <a:pt x="0" y="0"/>
                </a:moveTo>
                <a:lnTo>
                  <a:pt x="3143250" y="0"/>
                </a:lnTo>
                <a:lnTo>
                  <a:pt x="3143250" y="1714500"/>
                </a:lnTo>
                <a:lnTo>
                  <a:pt x="0" y="17145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1072" r="0" b="-11072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5191125" y="4095750"/>
            <a:ext cx="3143250" cy="1714500"/>
          </a:xfrm>
          <a:custGeom>
            <a:avLst/>
            <a:gdLst/>
            <a:ahLst/>
            <a:cxnLst/>
            <a:rect r="r" b="b" t="t" l="l"/>
            <a:pathLst>
              <a:path h="1714500" w="3143250">
                <a:moveTo>
                  <a:pt x="0" y="0"/>
                </a:moveTo>
                <a:lnTo>
                  <a:pt x="3143250" y="0"/>
                </a:lnTo>
                <a:lnTo>
                  <a:pt x="3143250" y="1714500"/>
                </a:lnTo>
                <a:lnTo>
                  <a:pt x="0" y="17145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1072" r="0" b="-11072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9525000" y="4095750"/>
            <a:ext cx="3143250" cy="1714500"/>
          </a:xfrm>
          <a:custGeom>
            <a:avLst/>
            <a:gdLst/>
            <a:ahLst/>
            <a:cxnLst/>
            <a:rect r="r" b="b" t="t" l="l"/>
            <a:pathLst>
              <a:path h="1714500" w="3143250">
                <a:moveTo>
                  <a:pt x="0" y="0"/>
                </a:moveTo>
                <a:lnTo>
                  <a:pt x="3143250" y="0"/>
                </a:lnTo>
                <a:lnTo>
                  <a:pt x="3143250" y="1714500"/>
                </a:lnTo>
                <a:lnTo>
                  <a:pt x="0" y="17145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1072" r="0" b="-11072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13811250" y="4095750"/>
            <a:ext cx="3143250" cy="1714500"/>
          </a:xfrm>
          <a:custGeom>
            <a:avLst/>
            <a:gdLst/>
            <a:ahLst/>
            <a:cxnLst/>
            <a:rect r="r" b="b" t="t" l="l"/>
            <a:pathLst>
              <a:path h="1714500" w="3143250">
                <a:moveTo>
                  <a:pt x="0" y="0"/>
                </a:moveTo>
                <a:lnTo>
                  <a:pt x="3143250" y="0"/>
                </a:lnTo>
                <a:lnTo>
                  <a:pt x="3143250" y="1714500"/>
                </a:lnTo>
                <a:lnTo>
                  <a:pt x="0" y="17145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11072" r="0" b="-11072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382750" y="5143500"/>
            <a:ext cx="1428750" cy="590550"/>
            <a:chOff x="0" y="0"/>
            <a:chExt cx="1905000" cy="787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05000" cy="787400"/>
            </a:xfrm>
            <a:custGeom>
              <a:avLst/>
              <a:gdLst/>
              <a:ahLst/>
              <a:cxnLst/>
              <a:rect r="r" b="b" t="t" l="l"/>
              <a:pathLst>
                <a:path h="787400" w="1905000">
                  <a:moveTo>
                    <a:pt x="254000" y="0"/>
                  </a:moveTo>
                  <a:lnTo>
                    <a:pt x="1651000" y="0"/>
                  </a:lnTo>
                  <a:cubicBezTo>
                    <a:pt x="1791280" y="0"/>
                    <a:pt x="1905000" y="113720"/>
                    <a:pt x="1905000" y="254000"/>
                  </a:cubicBezTo>
                  <a:lnTo>
                    <a:pt x="1905000" y="533400"/>
                  </a:lnTo>
                  <a:cubicBezTo>
                    <a:pt x="1905000" y="673680"/>
                    <a:pt x="1791280" y="787400"/>
                    <a:pt x="1651000" y="787400"/>
                  </a:cubicBezTo>
                  <a:lnTo>
                    <a:pt x="254000" y="787400"/>
                  </a:lnTo>
                  <a:cubicBezTo>
                    <a:pt x="113720" y="787400"/>
                    <a:pt x="0" y="673680"/>
                    <a:pt x="0" y="533400"/>
                  </a:cubicBezTo>
                  <a:lnTo>
                    <a:pt x="0" y="254000"/>
                  </a:lnTo>
                  <a:cubicBezTo>
                    <a:pt x="0" y="113720"/>
                    <a:pt x="113720" y="0"/>
                    <a:pt x="254000" y="0"/>
                  </a:cubicBezTo>
                  <a:close/>
                </a:path>
              </a:pathLst>
            </a:custGeom>
            <a:solidFill>
              <a:srgbClr val="193451">
                <a:alpha val="84706"/>
              </a:srgbClr>
            </a:solidFill>
            <a:ln w="19050" cap="sq">
              <a:solidFill>
                <a:srgbClr val="22A8DD">
                  <a:alpha val="84706"/>
                </a:srgbClr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905000" cy="825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4382750" y="3905250"/>
            <a:ext cx="1428750" cy="590550"/>
            <a:chOff x="0" y="0"/>
            <a:chExt cx="1905000" cy="787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905000" cy="787400"/>
            </a:xfrm>
            <a:custGeom>
              <a:avLst/>
              <a:gdLst/>
              <a:ahLst/>
              <a:cxnLst/>
              <a:rect r="r" b="b" t="t" l="l"/>
              <a:pathLst>
                <a:path h="787400" w="1905000">
                  <a:moveTo>
                    <a:pt x="254000" y="0"/>
                  </a:moveTo>
                  <a:lnTo>
                    <a:pt x="1651000" y="0"/>
                  </a:lnTo>
                  <a:cubicBezTo>
                    <a:pt x="1791280" y="0"/>
                    <a:pt x="1905000" y="113720"/>
                    <a:pt x="1905000" y="254000"/>
                  </a:cubicBezTo>
                  <a:lnTo>
                    <a:pt x="1905000" y="533400"/>
                  </a:lnTo>
                  <a:cubicBezTo>
                    <a:pt x="1905000" y="673680"/>
                    <a:pt x="1791280" y="787400"/>
                    <a:pt x="1651000" y="787400"/>
                  </a:cubicBezTo>
                  <a:lnTo>
                    <a:pt x="254000" y="787400"/>
                  </a:lnTo>
                  <a:cubicBezTo>
                    <a:pt x="113720" y="787400"/>
                    <a:pt x="0" y="673680"/>
                    <a:pt x="0" y="533400"/>
                  </a:cubicBezTo>
                  <a:lnTo>
                    <a:pt x="0" y="254000"/>
                  </a:lnTo>
                  <a:cubicBezTo>
                    <a:pt x="0" y="113720"/>
                    <a:pt x="113720" y="0"/>
                    <a:pt x="254000" y="0"/>
                  </a:cubicBezTo>
                  <a:close/>
                </a:path>
              </a:pathLst>
            </a:custGeom>
            <a:solidFill>
              <a:srgbClr val="193451">
                <a:alpha val="84706"/>
              </a:srgbClr>
            </a:solidFill>
            <a:ln w="19050" cap="sq">
              <a:solidFill>
                <a:srgbClr val="22A8DD">
                  <a:alpha val="84706"/>
                </a:srgbClr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905000" cy="825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4382750" y="2667000"/>
            <a:ext cx="1428750" cy="590550"/>
            <a:chOff x="0" y="0"/>
            <a:chExt cx="1905000" cy="787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905000" cy="787400"/>
            </a:xfrm>
            <a:custGeom>
              <a:avLst/>
              <a:gdLst/>
              <a:ahLst/>
              <a:cxnLst/>
              <a:rect r="r" b="b" t="t" l="l"/>
              <a:pathLst>
                <a:path h="787400" w="1905000">
                  <a:moveTo>
                    <a:pt x="254000" y="0"/>
                  </a:moveTo>
                  <a:lnTo>
                    <a:pt x="1651000" y="0"/>
                  </a:lnTo>
                  <a:cubicBezTo>
                    <a:pt x="1791280" y="0"/>
                    <a:pt x="1905000" y="113720"/>
                    <a:pt x="1905000" y="254000"/>
                  </a:cubicBezTo>
                  <a:lnTo>
                    <a:pt x="1905000" y="533400"/>
                  </a:lnTo>
                  <a:cubicBezTo>
                    <a:pt x="1905000" y="673680"/>
                    <a:pt x="1791280" y="787400"/>
                    <a:pt x="1651000" y="787400"/>
                  </a:cubicBezTo>
                  <a:lnTo>
                    <a:pt x="254000" y="787400"/>
                  </a:lnTo>
                  <a:cubicBezTo>
                    <a:pt x="113720" y="787400"/>
                    <a:pt x="0" y="673680"/>
                    <a:pt x="0" y="533400"/>
                  </a:cubicBezTo>
                  <a:lnTo>
                    <a:pt x="0" y="254000"/>
                  </a:lnTo>
                  <a:cubicBezTo>
                    <a:pt x="0" y="113720"/>
                    <a:pt x="113720" y="0"/>
                    <a:pt x="254000" y="0"/>
                  </a:cubicBezTo>
                  <a:close/>
                </a:path>
              </a:pathLst>
            </a:custGeom>
            <a:solidFill>
              <a:srgbClr val="193451">
                <a:alpha val="84706"/>
              </a:srgbClr>
            </a:solidFill>
            <a:ln w="19050" cap="sq">
              <a:solidFill>
                <a:srgbClr val="22A8DD">
                  <a:alpha val="84706"/>
                </a:srgbClr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905000" cy="825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AutoShape 11" id="11"/>
          <p:cNvSpPr/>
          <p:nvPr/>
        </p:nvSpPr>
        <p:spPr>
          <a:xfrm>
            <a:off x="11115675" y="4352925"/>
            <a:ext cx="0" cy="1333500"/>
          </a:xfrm>
          <a:prstGeom prst="line">
            <a:avLst/>
          </a:prstGeom>
          <a:ln cap="flat" w="28575">
            <a:solidFill>
              <a:srgbClr val="22A8D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2" id="12"/>
          <p:cNvSpPr/>
          <p:nvPr/>
        </p:nvSpPr>
        <p:spPr>
          <a:xfrm>
            <a:off x="11115675" y="3019425"/>
            <a:ext cx="0" cy="1333500"/>
          </a:xfrm>
          <a:prstGeom prst="line">
            <a:avLst/>
          </a:prstGeom>
          <a:ln cap="flat" w="28575">
            <a:solidFill>
              <a:srgbClr val="8C52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3" id="13"/>
          <p:cNvGrpSpPr/>
          <p:nvPr/>
        </p:nvGrpSpPr>
        <p:grpSpPr>
          <a:xfrm rot="0">
            <a:off x="10953750" y="5524500"/>
            <a:ext cx="323850" cy="323850"/>
            <a:chOff x="0" y="0"/>
            <a:chExt cx="431800" cy="431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31800" cy="431800"/>
            </a:xfrm>
            <a:custGeom>
              <a:avLst/>
              <a:gdLst/>
              <a:ahLst/>
              <a:cxnLst/>
              <a:rect r="r" b="b" t="t" l="l"/>
              <a:pathLst>
                <a:path h="431800" w="431800">
                  <a:moveTo>
                    <a:pt x="0" y="215900"/>
                  </a:moveTo>
                  <a:cubicBezTo>
                    <a:pt x="0" y="335138"/>
                    <a:pt x="96662" y="431800"/>
                    <a:pt x="215900" y="431800"/>
                  </a:cubicBezTo>
                  <a:cubicBezTo>
                    <a:pt x="335138" y="431800"/>
                    <a:pt x="431800" y="335138"/>
                    <a:pt x="431800" y="215900"/>
                  </a:cubicBezTo>
                  <a:cubicBezTo>
                    <a:pt x="431800" y="96662"/>
                    <a:pt x="335138" y="0"/>
                    <a:pt x="215900" y="0"/>
                  </a:cubicBezTo>
                  <a:cubicBezTo>
                    <a:pt x="96662" y="0"/>
                    <a:pt x="0" y="96662"/>
                    <a:pt x="0" y="215900"/>
                  </a:cubicBezTo>
                  <a:close/>
                </a:path>
              </a:pathLst>
            </a:custGeom>
            <a:solidFill>
              <a:srgbClr val="8C52FF"/>
            </a:solidFill>
            <a:ln w="19050" cap="sq">
              <a:solidFill>
                <a:srgbClr val="8C52FF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431800" cy="469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0953750" y="4191000"/>
            <a:ext cx="323850" cy="323850"/>
            <a:chOff x="0" y="0"/>
            <a:chExt cx="431800" cy="431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31800" cy="431800"/>
            </a:xfrm>
            <a:custGeom>
              <a:avLst/>
              <a:gdLst/>
              <a:ahLst/>
              <a:cxnLst/>
              <a:rect r="r" b="b" t="t" l="l"/>
              <a:pathLst>
                <a:path h="431800" w="431800">
                  <a:moveTo>
                    <a:pt x="0" y="215900"/>
                  </a:moveTo>
                  <a:cubicBezTo>
                    <a:pt x="0" y="335138"/>
                    <a:pt x="96662" y="431800"/>
                    <a:pt x="215900" y="431800"/>
                  </a:cubicBezTo>
                  <a:cubicBezTo>
                    <a:pt x="335138" y="431800"/>
                    <a:pt x="431800" y="335138"/>
                    <a:pt x="431800" y="215900"/>
                  </a:cubicBezTo>
                  <a:cubicBezTo>
                    <a:pt x="431800" y="96662"/>
                    <a:pt x="335138" y="0"/>
                    <a:pt x="215900" y="0"/>
                  </a:cubicBezTo>
                  <a:cubicBezTo>
                    <a:pt x="96662" y="0"/>
                    <a:pt x="0" y="96662"/>
                    <a:pt x="0" y="215900"/>
                  </a:cubicBezTo>
                  <a:close/>
                </a:path>
              </a:pathLst>
            </a:custGeom>
            <a:solidFill>
              <a:srgbClr val="22A8DD"/>
            </a:solidFill>
            <a:ln w="19050" cap="sq">
              <a:solidFill>
                <a:srgbClr val="22A8DD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431800" cy="469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0953750" y="2857500"/>
            <a:ext cx="323850" cy="323850"/>
            <a:chOff x="0" y="0"/>
            <a:chExt cx="431800" cy="431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31800" cy="431800"/>
            </a:xfrm>
            <a:custGeom>
              <a:avLst/>
              <a:gdLst/>
              <a:ahLst/>
              <a:cxnLst/>
              <a:rect r="r" b="b" t="t" l="l"/>
              <a:pathLst>
                <a:path h="431800" w="431800">
                  <a:moveTo>
                    <a:pt x="0" y="215900"/>
                  </a:moveTo>
                  <a:cubicBezTo>
                    <a:pt x="0" y="335138"/>
                    <a:pt x="96662" y="431800"/>
                    <a:pt x="215900" y="431800"/>
                  </a:cubicBezTo>
                  <a:cubicBezTo>
                    <a:pt x="335138" y="431800"/>
                    <a:pt x="431800" y="335138"/>
                    <a:pt x="431800" y="215900"/>
                  </a:cubicBezTo>
                  <a:cubicBezTo>
                    <a:pt x="431800" y="96662"/>
                    <a:pt x="335138" y="0"/>
                    <a:pt x="215900" y="0"/>
                  </a:cubicBezTo>
                  <a:cubicBezTo>
                    <a:pt x="96662" y="0"/>
                    <a:pt x="0" y="96662"/>
                    <a:pt x="0" y="215900"/>
                  </a:cubicBezTo>
                  <a:close/>
                </a:path>
              </a:pathLst>
            </a:custGeom>
            <a:solidFill>
              <a:srgbClr val="8C52FF"/>
            </a:solidFill>
            <a:ln w="19050" cap="sq">
              <a:solidFill>
                <a:srgbClr val="8C52FF"/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431800" cy="469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AutoShape 22" id="22"/>
          <p:cNvSpPr/>
          <p:nvPr/>
        </p:nvSpPr>
        <p:spPr>
          <a:xfrm>
            <a:off x="6838950" y="5600700"/>
            <a:ext cx="704850" cy="0"/>
          </a:xfrm>
          <a:prstGeom prst="line">
            <a:avLst/>
          </a:prstGeom>
          <a:ln cap="flat" w="19050">
            <a:solidFill>
              <a:srgbClr val="8C52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3" id="23"/>
          <p:cNvGrpSpPr/>
          <p:nvPr/>
        </p:nvGrpSpPr>
        <p:grpSpPr>
          <a:xfrm rot="0">
            <a:off x="6667500" y="5429250"/>
            <a:ext cx="1047750" cy="619125"/>
            <a:chOff x="0" y="0"/>
            <a:chExt cx="1397000" cy="8255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397000" cy="825500"/>
            </a:xfrm>
            <a:custGeom>
              <a:avLst/>
              <a:gdLst/>
              <a:ahLst/>
              <a:cxnLst/>
              <a:rect r="r" b="b" t="t" l="l"/>
              <a:pathLst>
                <a:path h="825500" w="1397000">
                  <a:moveTo>
                    <a:pt x="152400" y="0"/>
                  </a:moveTo>
                  <a:lnTo>
                    <a:pt x="1244600" y="0"/>
                  </a:lnTo>
                  <a:cubicBezTo>
                    <a:pt x="1328768" y="0"/>
                    <a:pt x="1397000" y="68232"/>
                    <a:pt x="1397000" y="152400"/>
                  </a:cubicBezTo>
                  <a:lnTo>
                    <a:pt x="1397000" y="673100"/>
                  </a:lnTo>
                  <a:cubicBezTo>
                    <a:pt x="1397000" y="757268"/>
                    <a:pt x="1328768" y="825500"/>
                    <a:pt x="1244600" y="825500"/>
                  </a:cubicBezTo>
                  <a:lnTo>
                    <a:pt x="152400" y="825500"/>
                  </a:lnTo>
                  <a:cubicBezTo>
                    <a:pt x="68232" y="825500"/>
                    <a:pt x="0" y="757268"/>
                    <a:pt x="0" y="67310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193451">
                <a:alpha val="84706"/>
              </a:srgbClr>
            </a:solidFill>
            <a:ln w="19050" cap="sq">
              <a:solidFill>
                <a:srgbClr val="8C52FF">
                  <a:alpha val="84706"/>
                </a:srgbClr>
              </a:solidFill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1397000" cy="863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AutoShape 26" id="26"/>
          <p:cNvSpPr/>
          <p:nvPr/>
        </p:nvSpPr>
        <p:spPr>
          <a:xfrm>
            <a:off x="6838950" y="4076700"/>
            <a:ext cx="704850" cy="0"/>
          </a:xfrm>
          <a:prstGeom prst="line">
            <a:avLst/>
          </a:prstGeom>
          <a:ln cap="flat" w="19050">
            <a:solidFill>
              <a:srgbClr val="45B0F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7" id="27"/>
          <p:cNvGrpSpPr/>
          <p:nvPr/>
        </p:nvGrpSpPr>
        <p:grpSpPr>
          <a:xfrm rot="0">
            <a:off x="6667500" y="3905250"/>
            <a:ext cx="1047750" cy="619125"/>
            <a:chOff x="0" y="0"/>
            <a:chExt cx="1397000" cy="8255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397000" cy="825500"/>
            </a:xfrm>
            <a:custGeom>
              <a:avLst/>
              <a:gdLst/>
              <a:ahLst/>
              <a:cxnLst/>
              <a:rect r="r" b="b" t="t" l="l"/>
              <a:pathLst>
                <a:path h="825500" w="1397000">
                  <a:moveTo>
                    <a:pt x="152400" y="0"/>
                  </a:moveTo>
                  <a:lnTo>
                    <a:pt x="1244600" y="0"/>
                  </a:lnTo>
                  <a:cubicBezTo>
                    <a:pt x="1328768" y="0"/>
                    <a:pt x="1397000" y="68232"/>
                    <a:pt x="1397000" y="152400"/>
                  </a:cubicBezTo>
                  <a:lnTo>
                    <a:pt x="1397000" y="673100"/>
                  </a:lnTo>
                  <a:cubicBezTo>
                    <a:pt x="1397000" y="757268"/>
                    <a:pt x="1328768" y="825500"/>
                    <a:pt x="1244600" y="825500"/>
                  </a:cubicBezTo>
                  <a:lnTo>
                    <a:pt x="152400" y="825500"/>
                  </a:lnTo>
                  <a:cubicBezTo>
                    <a:pt x="68232" y="825500"/>
                    <a:pt x="0" y="757268"/>
                    <a:pt x="0" y="67310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193451">
                <a:alpha val="84706"/>
              </a:srgbClr>
            </a:solidFill>
            <a:ln w="19050" cap="sq">
              <a:solidFill>
                <a:srgbClr val="45B0F0">
                  <a:alpha val="84706"/>
                </a:srgbClr>
              </a:solidFill>
              <a:prstDash val="solid"/>
              <a:miter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1397000" cy="863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AutoShape 30" id="30"/>
          <p:cNvSpPr/>
          <p:nvPr/>
        </p:nvSpPr>
        <p:spPr>
          <a:xfrm>
            <a:off x="6838950" y="2552700"/>
            <a:ext cx="704850" cy="0"/>
          </a:xfrm>
          <a:prstGeom prst="line">
            <a:avLst/>
          </a:prstGeom>
          <a:ln cap="flat" w="19050">
            <a:solidFill>
              <a:srgbClr val="22A8DD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1" id="31"/>
          <p:cNvGrpSpPr/>
          <p:nvPr/>
        </p:nvGrpSpPr>
        <p:grpSpPr>
          <a:xfrm rot="0">
            <a:off x="6667500" y="2381250"/>
            <a:ext cx="1047750" cy="619125"/>
            <a:chOff x="0" y="0"/>
            <a:chExt cx="1397000" cy="8255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397000" cy="825500"/>
            </a:xfrm>
            <a:custGeom>
              <a:avLst/>
              <a:gdLst/>
              <a:ahLst/>
              <a:cxnLst/>
              <a:rect r="r" b="b" t="t" l="l"/>
              <a:pathLst>
                <a:path h="825500" w="1397000">
                  <a:moveTo>
                    <a:pt x="152400" y="0"/>
                  </a:moveTo>
                  <a:lnTo>
                    <a:pt x="1244600" y="0"/>
                  </a:lnTo>
                  <a:cubicBezTo>
                    <a:pt x="1328768" y="0"/>
                    <a:pt x="1397000" y="68232"/>
                    <a:pt x="1397000" y="152400"/>
                  </a:cubicBezTo>
                  <a:lnTo>
                    <a:pt x="1397000" y="673100"/>
                  </a:lnTo>
                  <a:cubicBezTo>
                    <a:pt x="1397000" y="757268"/>
                    <a:pt x="1328768" y="825500"/>
                    <a:pt x="1244600" y="825500"/>
                  </a:cubicBezTo>
                  <a:lnTo>
                    <a:pt x="152400" y="825500"/>
                  </a:lnTo>
                  <a:cubicBezTo>
                    <a:pt x="68232" y="825500"/>
                    <a:pt x="0" y="757268"/>
                    <a:pt x="0" y="67310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193451">
                <a:alpha val="84706"/>
              </a:srgbClr>
            </a:solidFill>
            <a:ln w="19050" cap="sq">
              <a:solidFill>
                <a:srgbClr val="22A8DD">
                  <a:alpha val="84706"/>
                </a:srgbClr>
              </a:solidFill>
              <a:prstDash val="solid"/>
              <a:miter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1397000" cy="863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5905500" y="1524000"/>
            <a:ext cx="4000500" cy="6667500"/>
            <a:chOff x="0" y="0"/>
            <a:chExt cx="5334000" cy="88900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5334000" cy="8890000"/>
            </a:xfrm>
            <a:custGeom>
              <a:avLst/>
              <a:gdLst/>
              <a:ahLst/>
              <a:cxnLst/>
              <a:rect r="r" b="b" t="t" l="l"/>
              <a:pathLst>
                <a:path h="8890000" w="5334000">
                  <a:moveTo>
                    <a:pt x="304800" y="0"/>
                  </a:moveTo>
                  <a:lnTo>
                    <a:pt x="5029200" y="0"/>
                  </a:lnTo>
                  <a:cubicBezTo>
                    <a:pt x="5197536" y="0"/>
                    <a:pt x="5334000" y="136464"/>
                    <a:pt x="5334000" y="304800"/>
                  </a:cubicBezTo>
                  <a:lnTo>
                    <a:pt x="5334000" y="8585200"/>
                  </a:lnTo>
                  <a:cubicBezTo>
                    <a:pt x="5334000" y="8753536"/>
                    <a:pt x="5197536" y="8890000"/>
                    <a:pt x="5029200" y="8890000"/>
                  </a:cubicBezTo>
                  <a:lnTo>
                    <a:pt x="304800" y="8890000"/>
                  </a:lnTo>
                  <a:cubicBezTo>
                    <a:pt x="136464" y="8890000"/>
                    <a:pt x="0" y="8753536"/>
                    <a:pt x="0" y="8585200"/>
                  </a:cubicBezTo>
                  <a:lnTo>
                    <a:pt x="0" y="304800"/>
                  </a:lnTo>
                  <a:cubicBezTo>
                    <a:pt x="0" y="136464"/>
                    <a:pt x="136464" y="0"/>
                    <a:pt x="304800" y="0"/>
                  </a:cubicBezTo>
                  <a:close/>
                </a:path>
              </a:pathLst>
            </a:custGeom>
            <a:solidFill>
              <a:srgbClr val="0D1B2A">
                <a:alpha val="81961"/>
              </a:srgbClr>
            </a:solidFill>
            <a:ln w="19050" cap="sq">
              <a:solidFill>
                <a:srgbClr val="22A8DD">
                  <a:alpha val="81961"/>
                </a:srgbClr>
              </a:solidFill>
              <a:prstDash val="solid"/>
              <a:miter/>
            </a:ln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5334000" cy="892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0287000" y="1524000"/>
            <a:ext cx="4000500" cy="6667500"/>
            <a:chOff x="0" y="0"/>
            <a:chExt cx="5334000" cy="88900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5334000" cy="8890000"/>
            </a:xfrm>
            <a:custGeom>
              <a:avLst/>
              <a:gdLst/>
              <a:ahLst/>
              <a:cxnLst/>
              <a:rect r="r" b="b" t="t" l="l"/>
              <a:pathLst>
                <a:path h="8890000" w="5334000">
                  <a:moveTo>
                    <a:pt x="304800" y="0"/>
                  </a:moveTo>
                  <a:lnTo>
                    <a:pt x="5029200" y="0"/>
                  </a:lnTo>
                  <a:cubicBezTo>
                    <a:pt x="5197536" y="0"/>
                    <a:pt x="5334000" y="136464"/>
                    <a:pt x="5334000" y="304800"/>
                  </a:cubicBezTo>
                  <a:lnTo>
                    <a:pt x="5334000" y="8585200"/>
                  </a:lnTo>
                  <a:cubicBezTo>
                    <a:pt x="5334000" y="8753536"/>
                    <a:pt x="5197536" y="8890000"/>
                    <a:pt x="5029200" y="8890000"/>
                  </a:cubicBezTo>
                  <a:lnTo>
                    <a:pt x="304800" y="8890000"/>
                  </a:lnTo>
                  <a:cubicBezTo>
                    <a:pt x="136464" y="8890000"/>
                    <a:pt x="0" y="8753536"/>
                    <a:pt x="0" y="8585200"/>
                  </a:cubicBezTo>
                  <a:lnTo>
                    <a:pt x="0" y="304800"/>
                  </a:lnTo>
                  <a:cubicBezTo>
                    <a:pt x="0" y="136464"/>
                    <a:pt x="136464" y="0"/>
                    <a:pt x="304800" y="0"/>
                  </a:cubicBezTo>
                  <a:close/>
                </a:path>
              </a:pathLst>
            </a:custGeom>
            <a:solidFill>
              <a:srgbClr val="0D1B2A">
                <a:alpha val="81961"/>
              </a:srgbClr>
            </a:solidFill>
            <a:ln w="19050" cap="sq">
              <a:solidFill>
                <a:srgbClr val="8C52FF">
                  <a:alpha val="81961"/>
                </a:srgbClr>
              </a:solidFill>
              <a:prstDash val="solid"/>
              <a:miter/>
            </a:ln>
          </p:spPr>
        </p:sp>
        <p:sp>
          <p:nvSpPr>
            <p:cNvPr name="TextBox 39" id="39"/>
            <p:cNvSpPr txBox="true"/>
            <p:nvPr/>
          </p:nvSpPr>
          <p:spPr>
            <a:xfrm>
              <a:off x="0" y="-38100"/>
              <a:ext cx="5334000" cy="892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3811250" y="1524000"/>
            <a:ext cx="4000500" cy="6667500"/>
            <a:chOff x="0" y="0"/>
            <a:chExt cx="5334000" cy="88900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5334000" cy="8890000"/>
            </a:xfrm>
            <a:custGeom>
              <a:avLst/>
              <a:gdLst/>
              <a:ahLst/>
              <a:cxnLst/>
              <a:rect r="r" b="b" t="t" l="l"/>
              <a:pathLst>
                <a:path h="8890000" w="5334000">
                  <a:moveTo>
                    <a:pt x="304800" y="0"/>
                  </a:moveTo>
                  <a:lnTo>
                    <a:pt x="5029200" y="0"/>
                  </a:lnTo>
                  <a:cubicBezTo>
                    <a:pt x="5197536" y="0"/>
                    <a:pt x="5334000" y="136464"/>
                    <a:pt x="5334000" y="304800"/>
                  </a:cubicBezTo>
                  <a:lnTo>
                    <a:pt x="5334000" y="8585200"/>
                  </a:lnTo>
                  <a:cubicBezTo>
                    <a:pt x="5334000" y="8753536"/>
                    <a:pt x="5197536" y="8890000"/>
                    <a:pt x="5029200" y="8890000"/>
                  </a:cubicBezTo>
                  <a:lnTo>
                    <a:pt x="304800" y="8890000"/>
                  </a:lnTo>
                  <a:cubicBezTo>
                    <a:pt x="136464" y="8890000"/>
                    <a:pt x="0" y="8753536"/>
                    <a:pt x="0" y="8585200"/>
                  </a:cubicBezTo>
                  <a:lnTo>
                    <a:pt x="0" y="304800"/>
                  </a:lnTo>
                  <a:cubicBezTo>
                    <a:pt x="0" y="136464"/>
                    <a:pt x="136464" y="0"/>
                    <a:pt x="304800" y="0"/>
                  </a:cubicBezTo>
                  <a:close/>
                </a:path>
              </a:pathLst>
            </a:custGeom>
            <a:solidFill>
              <a:srgbClr val="0D1B2A">
                <a:alpha val="81961"/>
              </a:srgbClr>
            </a:solidFill>
            <a:ln w="19050" cap="sq">
              <a:solidFill>
                <a:srgbClr val="22A8DD">
                  <a:alpha val="81961"/>
                </a:srgbClr>
              </a:solidFill>
              <a:prstDash val="solid"/>
              <a:miter/>
            </a:ln>
          </p:spPr>
        </p:sp>
        <p:sp>
          <p:nvSpPr>
            <p:cNvPr name="TextBox 42" id="42"/>
            <p:cNvSpPr txBox="true"/>
            <p:nvPr/>
          </p:nvSpPr>
          <p:spPr>
            <a:xfrm>
              <a:off x="0" y="-38100"/>
              <a:ext cx="5334000" cy="892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AutoShape 43" id="43"/>
          <p:cNvSpPr/>
          <p:nvPr/>
        </p:nvSpPr>
        <p:spPr>
          <a:xfrm>
            <a:off x="9906000" y="3048000"/>
            <a:ext cx="381000" cy="0"/>
          </a:xfrm>
          <a:prstGeom prst="line">
            <a:avLst/>
          </a:prstGeom>
          <a:ln cap="flat" w="38100">
            <a:solidFill>
              <a:srgbClr val="22A8D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4" id="44"/>
          <p:cNvSpPr/>
          <p:nvPr/>
        </p:nvSpPr>
        <p:spPr>
          <a:xfrm>
            <a:off x="9906000" y="4953000"/>
            <a:ext cx="381000" cy="0"/>
          </a:xfrm>
          <a:prstGeom prst="line">
            <a:avLst/>
          </a:prstGeom>
          <a:ln cap="flat" w="38100">
            <a:solidFill>
              <a:srgbClr val="8C52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5" id="45"/>
          <p:cNvSpPr/>
          <p:nvPr/>
        </p:nvSpPr>
        <p:spPr>
          <a:xfrm flipH="true">
            <a:off x="13811250" y="4953000"/>
            <a:ext cx="476250" cy="0"/>
          </a:xfrm>
          <a:prstGeom prst="line">
            <a:avLst/>
          </a:prstGeom>
          <a:ln cap="flat" w="38100">
            <a:solidFill>
              <a:srgbClr val="8C52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6" id="46"/>
          <p:cNvSpPr txBox="true"/>
          <p:nvPr/>
        </p:nvSpPr>
        <p:spPr>
          <a:xfrm rot="0">
            <a:off x="459870" y="700542"/>
            <a:ext cx="4912190" cy="19727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20"/>
              </a:lnSpc>
            </a:pPr>
            <a:r>
              <a:rPr lang="en-US" sz="7354" spc="-294" b="true">
                <a:solidFill>
                  <a:srgbClr val="F6F6F6"/>
                </a:solidFill>
                <a:latin typeface="Roboto Bold"/>
                <a:ea typeface="Roboto Bold"/>
                <a:cs typeface="Roboto Bold"/>
                <a:sym typeface="Roboto Bold"/>
              </a:rPr>
              <a:t>Arquitectura Técnica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535781" y="3422023"/>
            <a:ext cx="5063133" cy="78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6"/>
              </a:lnSpc>
            </a:pPr>
            <a:r>
              <a:rPr lang="en-US" sz="2254" spc="-22">
                <a:solidFill>
                  <a:srgbClr val="FFFFFF">
                    <a:alpha val="80000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Modelo cliente-servidor desacoplado para máxima escalabilidad y flexibilidad.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528682" y="4848334"/>
            <a:ext cx="709909" cy="4295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759" spc="-26" b="true">
                <a:solidFill>
                  <a:srgbClr val="30ADD8"/>
                </a:solidFill>
                <a:latin typeface="Roboto Bold"/>
                <a:ea typeface="Roboto Bold"/>
                <a:cs typeface="Roboto Bold"/>
                <a:sym typeface="Roboto Bold"/>
              </a:rPr>
              <a:t>Web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526935" y="5962836"/>
            <a:ext cx="884583" cy="4295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759" spc="-26" b="true">
                <a:solidFill>
                  <a:srgbClr val="9153E4"/>
                </a:solidFill>
                <a:latin typeface="Roboto Bold"/>
                <a:ea typeface="Roboto Bold"/>
                <a:cs typeface="Roboto Bold"/>
                <a:sym typeface="Roboto Bold"/>
              </a:rPr>
              <a:t>Móvil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530025" y="7092399"/>
            <a:ext cx="575611" cy="4295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759" spc="-26" b="true">
                <a:solidFill>
                  <a:srgbClr val="30ADD8"/>
                </a:solidFill>
                <a:latin typeface="Roboto Bold"/>
                <a:ea typeface="Roboto Bold"/>
                <a:cs typeface="Roboto Bold"/>
                <a:sym typeface="Roboto Bold"/>
              </a:rPr>
              <a:t>API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512803" y="8191841"/>
            <a:ext cx="2297817" cy="4295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759" spc="-26" b="true">
                <a:solidFill>
                  <a:srgbClr val="9153E4"/>
                </a:solidFill>
                <a:latin typeface="Roboto Bold"/>
                <a:ea typeface="Roboto Bold"/>
                <a:cs typeface="Roboto Bold"/>
                <a:sym typeface="Roboto Bold"/>
              </a:rPr>
              <a:t>Base de Datos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535781" y="8652942"/>
            <a:ext cx="5063133" cy="6877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86"/>
              </a:lnSpc>
            </a:pPr>
            <a:r>
              <a:rPr lang="en-US" sz="2321" spc="-22">
                <a:solidFill>
                  <a:srgbClr val="FFFFFF">
                    <a:alpha val="80000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PostgreSQL + PostGIS para</a:t>
            </a:r>
          </a:p>
          <a:p>
            <a:pPr algn="l">
              <a:lnSpc>
                <a:spcPts val="2786"/>
              </a:lnSpc>
            </a:pPr>
            <a:r>
              <a:rPr lang="en-US" sz="2321" spc="-22">
                <a:solidFill>
                  <a:srgbClr val="FFFFFF">
                    <a:alpha val="80000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consultas espaciales rápidas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7505002" y="3292742"/>
            <a:ext cx="1141122" cy="8956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87"/>
              </a:lnSpc>
            </a:pPr>
            <a:r>
              <a:rPr lang="en-US" sz="2759" spc="-26">
                <a:solidFill>
                  <a:srgbClr val="FFFFFF">
                    <a:alpha val="80000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React /</a:t>
            </a:r>
          </a:p>
          <a:p>
            <a:pPr algn="ctr">
              <a:lnSpc>
                <a:spcPts val="3587"/>
              </a:lnSpc>
            </a:pPr>
            <a:r>
              <a:rPr lang="en-US" sz="2759" spc="-26">
                <a:solidFill>
                  <a:srgbClr val="FFFFFF">
                    <a:alpha val="80000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Next.js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7071386" y="5627172"/>
            <a:ext cx="2008354" cy="8956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87"/>
              </a:lnSpc>
            </a:pPr>
            <a:r>
              <a:rPr lang="en-US" sz="2759" spc="-26">
                <a:solidFill>
                  <a:srgbClr val="FFFFFF">
                    <a:alpha val="80000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Angular</a:t>
            </a:r>
          </a:p>
          <a:p>
            <a:pPr algn="ctr">
              <a:lnSpc>
                <a:spcPts val="3587"/>
              </a:lnSpc>
            </a:pPr>
            <a:r>
              <a:rPr lang="en-US" sz="2759" spc="-26">
                <a:solidFill>
                  <a:srgbClr val="FFFFFF">
                    <a:alpha val="80000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React Native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0963793" y="4362062"/>
            <a:ext cx="1831634" cy="8956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87"/>
              </a:lnSpc>
            </a:pPr>
            <a:r>
              <a:rPr lang="en-US" sz="2759" spc="-26">
                <a:solidFill>
                  <a:srgbClr val="FFFFFF">
                    <a:alpha val="80000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API REST</a:t>
            </a:r>
          </a:p>
          <a:p>
            <a:pPr algn="ctr">
              <a:lnSpc>
                <a:spcPts val="3587"/>
              </a:lnSpc>
            </a:pPr>
            <a:r>
              <a:rPr lang="en-US" sz="2759" spc="-26">
                <a:solidFill>
                  <a:srgbClr val="FFFFFF">
                    <a:alpha val="80000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con NestJS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14117836" y="2210807"/>
            <a:ext cx="3000375" cy="3486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6"/>
              </a:lnSpc>
            </a:pPr>
            <a:r>
              <a:rPr lang="en-US" b="true" sz="2321" spc="-22">
                <a:solidFill>
                  <a:srgbClr val="30ADD8"/>
                </a:solidFill>
                <a:latin typeface="Roboto Bold"/>
                <a:ea typeface="Roboto Bold"/>
                <a:cs typeface="Roboto Bold"/>
                <a:sym typeface="Roboto Bold"/>
              </a:rPr>
              <a:t>BASE DE DATOS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14496638" y="4828948"/>
            <a:ext cx="2182763" cy="8956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87"/>
              </a:lnSpc>
            </a:pPr>
            <a:r>
              <a:rPr lang="en-US" sz="2759" spc="-26">
                <a:solidFill>
                  <a:srgbClr val="FFFFFF">
                    <a:alpha val="80000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PostgreSQL + PostGIS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14306846" y="5892724"/>
            <a:ext cx="2562346" cy="680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41"/>
              </a:lnSpc>
            </a:pPr>
            <a:r>
              <a:rPr lang="en-US" sz="2109" spc="-20">
                <a:solidFill>
                  <a:srgbClr val="FFFFFF">
                    <a:alpha val="80000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consultas espaciales rápidas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535781" y="6442903"/>
            <a:ext cx="5063133" cy="3486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86"/>
              </a:lnSpc>
            </a:pPr>
            <a:r>
              <a:rPr lang="en-US" sz="2321" spc="-22">
                <a:solidFill>
                  <a:srgbClr val="FFFFFF">
                    <a:alpha val="80000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Angular/ React Native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535781" y="7557405"/>
            <a:ext cx="5063133" cy="3486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86"/>
              </a:lnSpc>
            </a:pPr>
            <a:r>
              <a:rPr lang="en-US" sz="2321" spc="-22">
                <a:solidFill>
                  <a:srgbClr val="FFFFFF">
                    <a:alpha val="80000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API REST con NestJS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535781" y="5328401"/>
            <a:ext cx="5063133" cy="3486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86"/>
              </a:lnSpc>
            </a:pPr>
            <a:r>
              <a:rPr lang="en-US" sz="2321" spc="-22">
                <a:solidFill>
                  <a:srgbClr val="FFFFFF">
                    <a:alpha val="80000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React / Next.js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10501312" y="2210807"/>
            <a:ext cx="2812852" cy="3486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6"/>
              </a:lnSpc>
            </a:pPr>
            <a:r>
              <a:rPr lang="en-US" b="true" sz="2321" spc="-22">
                <a:solidFill>
                  <a:srgbClr val="9153E4"/>
                </a:solidFill>
                <a:latin typeface="Roboto Bold"/>
                <a:ea typeface="Roboto Bold"/>
                <a:cs typeface="Roboto Bold"/>
                <a:sym typeface="Roboto Bold"/>
              </a:rPr>
              <a:t>SERVIDOR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6697266" y="1728860"/>
            <a:ext cx="2812852" cy="3486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6"/>
              </a:lnSpc>
            </a:pPr>
            <a:r>
              <a:rPr lang="en-US" b="true" sz="2321" spc="-22">
                <a:solidFill>
                  <a:srgbClr val="30ADD8"/>
                </a:solidFill>
                <a:latin typeface="Roboto Bold"/>
                <a:ea typeface="Roboto Bold"/>
                <a:cs typeface="Roboto Bold"/>
                <a:sym typeface="Roboto Bold"/>
              </a:rPr>
              <a:t>CLIENTES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6697266" y="5132610"/>
            <a:ext cx="2812852" cy="3486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6"/>
              </a:lnSpc>
            </a:pPr>
            <a:r>
              <a:rPr lang="en-US" b="true" sz="2321" spc="-22">
                <a:solidFill>
                  <a:srgbClr val="9153E4"/>
                </a:solidFill>
                <a:latin typeface="Roboto Bold"/>
                <a:ea typeface="Roboto Bold"/>
                <a:cs typeface="Roboto Bold"/>
                <a:sym typeface="Roboto Bold"/>
              </a:rPr>
              <a:t>MÓVIL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6697266" y="2783119"/>
            <a:ext cx="2812852" cy="3486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6"/>
              </a:lnSpc>
            </a:pPr>
            <a:r>
              <a:rPr lang="en-US" b="true" sz="2321" spc="-22">
                <a:solidFill>
                  <a:srgbClr val="30ADD8"/>
                </a:solidFill>
                <a:latin typeface="Roboto Bold"/>
                <a:ea typeface="Roboto Bold"/>
                <a:cs typeface="Roboto Bold"/>
                <a:sym typeface="Roboto Bold"/>
              </a:rPr>
              <a:t>WEB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10501312" y="3867499"/>
            <a:ext cx="2812852" cy="3486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6"/>
              </a:lnSpc>
            </a:pPr>
            <a:r>
              <a:rPr lang="en-US" b="true" sz="2321" spc="-22">
                <a:solidFill>
                  <a:srgbClr val="9153E4"/>
                </a:solidFill>
                <a:latin typeface="Roboto Bold"/>
                <a:ea typeface="Roboto Bold"/>
                <a:cs typeface="Roboto Bold"/>
                <a:sym typeface="Roboto Bold"/>
              </a:rPr>
              <a:t>API</a:t>
            </a:r>
          </a:p>
        </p:txBody>
      </p:sp>
      <p:sp>
        <p:nvSpPr>
          <p:cNvPr name="Freeform 67" id="67"/>
          <p:cNvSpPr/>
          <p:nvPr/>
        </p:nvSpPr>
        <p:spPr>
          <a:xfrm flipH="false" flipV="false" rot="0">
            <a:off x="6286500" y="2381250"/>
            <a:ext cx="2857500" cy="1619250"/>
          </a:xfrm>
          <a:custGeom>
            <a:avLst/>
            <a:gdLst/>
            <a:ahLst/>
            <a:cxnLst/>
            <a:rect r="r" b="b" t="t" l="l"/>
            <a:pathLst>
              <a:path h="1619250" w="2857500">
                <a:moveTo>
                  <a:pt x="0" y="0"/>
                </a:moveTo>
                <a:lnTo>
                  <a:pt x="2857500" y="0"/>
                </a:lnTo>
                <a:lnTo>
                  <a:pt x="2857500" y="1619250"/>
                </a:lnTo>
                <a:lnTo>
                  <a:pt x="0" y="16192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786" r="0" b="-8786"/>
            </a:stretch>
          </a:blipFill>
        </p:spPr>
      </p:sp>
      <p:sp>
        <p:nvSpPr>
          <p:cNvPr name="Freeform 68" id="68"/>
          <p:cNvSpPr/>
          <p:nvPr/>
        </p:nvSpPr>
        <p:spPr>
          <a:xfrm flipH="false" flipV="false" rot="0">
            <a:off x="6286500" y="4476750"/>
            <a:ext cx="2857500" cy="1619250"/>
          </a:xfrm>
          <a:custGeom>
            <a:avLst/>
            <a:gdLst/>
            <a:ahLst/>
            <a:cxnLst/>
            <a:rect r="r" b="b" t="t" l="l"/>
            <a:pathLst>
              <a:path h="1619250" w="2857500">
                <a:moveTo>
                  <a:pt x="0" y="0"/>
                </a:moveTo>
                <a:lnTo>
                  <a:pt x="2857500" y="0"/>
                </a:lnTo>
                <a:lnTo>
                  <a:pt x="2857500" y="1619250"/>
                </a:lnTo>
                <a:lnTo>
                  <a:pt x="0" y="16192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8786" r="0" b="-8786"/>
            </a:stretch>
          </a:blipFill>
        </p:spPr>
      </p:sp>
      <p:sp>
        <p:nvSpPr>
          <p:cNvPr name="Freeform 69" id="69"/>
          <p:cNvSpPr/>
          <p:nvPr/>
        </p:nvSpPr>
        <p:spPr>
          <a:xfrm flipH="false" flipV="false" rot="0">
            <a:off x="10477500" y="3143250"/>
            <a:ext cx="3143250" cy="1619250"/>
          </a:xfrm>
          <a:custGeom>
            <a:avLst/>
            <a:gdLst/>
            <a:ahLst/>
            <a:cxnLst/>
            <a:rect r="r" b="b" t="t" l="l"/>
            <a:pathLst>
              <a:path h="1619250" w="3143250">
                <a:moveTo>
                  <a:pt x="0" y="0"/>
                </a:moveTo>
                <a:lnTo>
                  <a:pt x="3143250" y="0"/>
                </a:lnTo>
                <a:lnTo>
                  <a:pt x="3143250" y="1619250"/>
                </a:lnTo>
                <a:lnTo>
                  <a:pt x="0" y="16192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4665" r="0" b="-14665"/>
            </a:stretch>
          </a:blipFill>
        </p:spPr>
      </p:sp>
      <p:sp>
        <p:nvSpPr>
          <p:cNvPr name="Freeform 70" id="70"/>
          <p:cNvSpPr/>
          <p:nvPr/>
        </p:nvSpPr>
        <p:spPr>
          <a:xfrm flipH="false" flipV="false" rot="0">
            <a:off x="14192250" y="3143250"/>
            <a:ext cx="3143250" cy="1619250"/>
          </a:xfrm>
          <a:custGeom>
            <a:avLst/>
            <a:gdLst/>
            <a:ahLst/>
            <a:cxnLst/>
            <a:rect r="r" b="b" t="t" l="l"/>
            <a:pathLst>
              <a:path h="1619250" w="3143250">
                <a:moveTo>
                  <a:pt x="0" y="0"/>
                </a:moveTo>
                <a:lnTo>
                  <a:pt x="3143250" y="0"/>
                </a:lnTo>
                <a:lnTo>
                  <a:pt x="3143250" y="1619250"/>
                </a:lnTo>
                <a:lnTo>
                  <a:pt x="0" y="161925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14665" r="0" b="-14665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DAHXuVJwdrw</dc:identifier>
  <dcterms:modified xsi:type="dcterms:W3CDTF">2011-08-01T06:04:30Z</dcterms:modified>
  <cp:revision>1</cp:revision>
  <dc:title>UBIK Proyecto Presentación Académica</dc:title>
</cp:coreProperties>
</file>